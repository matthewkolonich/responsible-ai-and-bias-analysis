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0116" autoAdjust="0"/>
  </p:normalViewPr>
  <p:slideViewPr>
    <p:cSldViewPr snapToGrid="0">
      <p:cViewPr varScale="1">
        <p:scale>
          <a:sx n="74" d="100"/>
          <a:sy n="74" d="100"/>
        </p:scale>
        <p:origin x="11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EFD50-A8B0-44DE-A365-7A8581E90B03}"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C84998-A3F3-47F0-A2AA-1204662A554A}" type="slidenum">
              <a:rPr lang="en-US" smtClean="0"/>
              <a:t>‹#›</a:t>
            </a:fld>
            <a:endParaRPr lang="en-US"/>
          </a:p>
        </p:txBody>
      </p:sp>
    </p:spTree>
    <p:extLst>
      <p:ext uri="{BB962C8B-B14F-4D97-AF65-F5344CB8AC3E}">
        <p14:creationId xmlns:p14="http://schemas.microsoft.com/office/powerpoint/2010/main" val="1319381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 everyone, and thank you for joining me today. My name is Matthew Kolonich, and this presentation covers my Unit 8 Responsible AI project, where I designed a conceptual adaptive STEM tutor for students in kindergarten through fifth </a:t>
            </a:r>
            <a:r>
              <a:rPr lang="en-US" dirty="0" err="1" smtClean="0"/>
              <a:t>grade.In</a:t>
            </a:r>
            <a:r>
              <a:rPr lang="en-US" dirty="0" smtClean="0"/>
              <a:t> this presentation, I’m going to walk through why I chose the education sector, what the adaptive AI system is designed to do, and the major ethical considerations involved—specifically around bias, fairness, privacy, governance, and generative </a:t>
            </a:r>
            <a:r>
              <a:rPr lang="en-US" dirty="0" err="1" smtClean="0"/>
              <a:t>AI.My</a:t>
            </a:r>
            <a:r>
              <a:rPr lang="en-US" dirty="0" smtClean="0"/>
              <a:t> goal is to show not just how AI could support early learning, but also why responsible design is absolutely essential when we’re working with young children.</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1</a:t>
            </a:fld>
            <a:endParaRPr lang="en-US"/>
          </a:p>
        </p:txBody>
      </p:sp>
    </p:spTree>
    <p:extLst>
      <p:ext uri="{BB962C8B-B14F-4D97-AF65-F5344CB8AC3E}">
        <p14:creationId xmlns:p14="http://schemas.microsoft.com/office/powerpoint/2010/main" val="2972835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began this project with a simple question: What happens if AI becomes a routine part of early </a:t>
            </a:r>
            <a:r>
              <a:rPr lang="en-US" dirty="0" err="1" smtClean="0"/>
              <a:t>learning?Early</a:t>
            </a:r>
            <a:r>
              <a:rPr lang="en-US" dirty="0" smtClean="0"/>
              <a:t> childhood is one of the highest-impact developmental stages, and even small mistakes—like misinterpreting a child’s behavior—can shape their academic </a:t>
            </a:r>
            <a:r>
              <a:rPr lang="en-US" dirty="0" err="1" smtClean="0"/>
              <a:t>identity.Children</a:t>
            </a:r>
            <a:r>
              <a:rPr lang="en-US" dirty="0" smtClean="0"/>
              <a:t> are also a legally and ethically protected group. They cannot meaningfully consent to data collection or understand digital risks. That puts a huge responsibility on designers and educators.AI can personalize instruction and help teachers manage diverse learning needs, but these benefits only matter if the system is safe, fair, and transparent. That’s why responsible AI is especially important in K–5 classrooms.</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2</a:t>
            </a:fld>
            <a:endParaRPr lang="en-US"/>
          </a:p>
        </p:txBody>
      </p:sp>
    </p:spTree>
    <p:extLst>
      <p:ext uri="{BB962C8B-B14F-4D97-AF65-F5344CB8AC3E}">
        <p14:creationId xmlns:p14="http://schemas.microsoft.com/office/powerpoint/2010/main" val="97789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system I designed is an adaptive learning tutor focused on math and science reasoning. It continually adjusts difficulty, pacing, and lesson sequencing based on how each student </a:t>
            </a:r>
            <a:r>
              <a:rPr lang="en-US" dirty="0" err="1" smtClean="0"/>
              <a:t>performs.One</a:t>
            </a:r>
            <a:r>
              <a:rPr lang="en-US" dirty="0" smtClean="0"/>
              <a:t> of the biggest strengths of this system is that it gives teachers dashboards showing classroom trends. They can quickly see which students need extra help and which students are ready for more </a:t>
            </a:r>
            <a:r>
              <a:rPr lang="en-US" dirty="0" err="1" smtClean="0"/>
              <a:t>challenge.This</a:t>
            </a:r>
            <a:r>
              <a:rPr lang="en-US" dirty="0" smtClean="0"/>
              <a:t> use case is intended to promote learning equity. Many students come to school with different levels of exposure to STEM concepts. A personalized system can help close gaps—as long as it’s designed responsibly.</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3</a:t>
            </a:fld>
            <a:endParaRPr lang="en-US"/>
          </a:p>
        </p:txBody>
      </p:sp>
    </p:spTree>
    <p:extLst>
      <p:ext uri="{BB962C8B-B14F-4D97-AF65-F5344CB8AC3E}">
        <p14:creationId xmlns:p14="http://schemas.microsoft.com/office/powerpoint/2010/main" val="2283141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Education requires a higher ethical standard than most sectors. Children are protected under laws like COPPA and FERPA because they cannot evaluate risks or understand how technology uses their </a:t>
            </a:r>
            <a:r>
              <a:rPr lang="en-US" dirty="0" err="1" smtClean="0"/>
              <a:t>information.Early</a:t>
            </a:r>
            <a:r>
              <a:rPr lang="en-US" dirty="0" smtClean="0"/>
              <a:t> learners also don’t have stable academic identities yet. If the system misinterprets a behavior—like reading slowly or hesitating—it might incorrectly place a child in easier material. Over time, that misinterpretation could shape how teachers perceive them and how they perceive </a:t>
            </a:r>
            <a:r>
              <a:rPr lang="en-US" dirty="0" err="1" smtClean="0"/>
              <a:t>themselves.That’s</a:t>
            </a:r>
            <a:r>
              <a:rPr lang="en-US" dirty="0" smtClean="0"/>
              <a:t> why human oversight is required at every step. No automated system—especially one interacting with children—should be making decisions without teacher review and the ability to correct or override recommendations.</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4</a:t>
            </a:fld>
            <a:endParaRPr lang="en-US"/>
          </a:p>
        </p:txBody>
      </p:sp>
    </p:spTree>
    <p:extLst>
      <p:ext uri="{BB962C8B-B14F-4D97-AF65-F5344CB8AC3E}">
        <p14:creationId xmlns:p14="http://schemas.microsoft.com/office/powerpoint/2010/main" val="3562691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Bias is one of the most significant risks in any adaptive learning system. If the model is trained primarily on data from wealthier or English-dominant districts, it may misunderstand students with different </a:t>
            </a:r>
            <a:r>
              <a:rPr lang="en-US" dirty="0" err="1" smtClean="0"/>
              <a:t>backgrounds.Another</a:t>
            </a:r>
            <a:r>
              <a:rPr lang="en-US" dirty="0" smtClean="0"/>
              <a:t> issue is how the system interprets behavior. A slow response might simply mean the student is thinking carefully—but the AI might interpret it as a lack of understanding. Meanwhile, students who guess quickly could be rewarded simply because their responses are </a:t>
            </a:r>
            <a:r>
              <a:rPr lang="en-US" dirty="0" err="1" smtClean="0"/>
              <a:t>fast.These</a:t>
            </a:r>
            <a:r>
              <a:rPr lang="en-US" dirty="0" smtClean="0"/>
              <a:t> micro-biases accumulate over time. A student who is consistently underestimated may get easier material and fewer opportunities to grow, while another student may be pushed ahead prematurely. These patterns can shape confidence and long-term learning trajectories.</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5</a:t>
            </a:fld>
            <a:endParaRPr lang="en-US"/>
          </a:p>
        </p:txBody>
      </p:sp>
    </p:spTree>
    <p:extLst>
      <p:ext uri="{BB962C8B-B14F-4D97-AF65-F5344CB8AC3E}">
        <p14:creationId xmlns:p14="http://schemas.microsoft.com/office/powerpoint/2010/main" val="2322322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Fairness requires a layered strategy. Teachers must be able to review AI recommendations, see why a particular task was assigned, and intervene when something feels </a:t>
            </a:r>
            <a:r>
              <a:rPr lang="en-US" dirty="0" err="1" smtClean="0"/>
              <a:t>off.Explainability</a:t>
            </a:r>
            <a:r>
              <a:rPr lang="en-US" dirty="0" smtClean="0"/>
              <a:t> tools are essential. If a teacher can see the logic behind a decision, they can correct errors before they affect the </a:t>
            </a:r>
            <a:r>
              <a:rPr lang="en-US" dirty="0" err="1" smtClean="0"/>
              <a:t>learner.The</a:t>
            </a:r>
            <a:r>
              <a:rPr lang="en-US" dirty="0" smtClean="0"/>
              <a:t> system should also include intervention workflows for inconsistencies. If a student is suddenly placed into a lower level, teachers need to know why and be able to reverse </a:t>
            </a:r>
            <a:r>
              <a:rPr lang="en-US" dirty="0" err="1" smtClean="0"/>
              <a:t>it.Lastly</a:t>
            </a:r>
            <a:r>
              <a:rPr lang="en-US" dirty="0" smtClean="0"/>
              <a:t>, fairness is not a one-time check. Recurring bias audits and monitoring model drift are necessary because systems can become biased again as new data accumulates.</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6</a:t>
            </a:fld>
            <a:endParaRPr lang="en-US"/>
          </a:p>
        </p:txBody>
      </p:sp>
    </p:spTree>
    <p:extLst>
      <p:ext uri="{BB962C8B-B14F-4D97-AF65-F5344CB8AC3E}">
        <p14:creationId xmlns:p14="http://schemas.microsoft.com/office/powerpoint/2010/main" val="161433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Privacy is especially important when dealing with children. Their data is deeply personal and extremely sensitive. It includes not only academic performance, but also patterns, mistakes, and learning </a:t>
            </a:r>
            <a:r>
              <a:rPr lang="en-US" dirty="0" err="1" smtClean="0"/>
              <a:t>behaviors.The</a:t>
            </a:r>
            <a:r>
              <a:rPr lang="en-US" dirty="0" smtClean="0"/>
              <a:t> system must limit data collection strictly to educational purposes. This means no unnecessary behavioral tracking, and no data being repurposed for other </a:t>
            </a:r>
            <a:r>
              <a:rPr lang="en-US" dirty="0" err="1" smtClean="0"/>
              <a:t>uses.Anonymized</a:t>
            </a:r>
            <a:r>
              <a:rPr lang="en-US" dirty="0" smtClean="0"/>
              <a:t> reporting and local storage help ensure that sensitive information never leaves the school environment. Parental consent under COPPA is mandatory, and families must clearly understand what data is collected and </a:t>
            </a:r>
            <a:r>
              <a:rPr lang="en-US" dirty="0" err="1" smtClean="0"/>
              <a:t>why.Additional</a:t>
            </a:r>
            <a:r>
              <a:rPr lang="en-US" dirty="0" smtClean="0"/>
              <a:t> protections—such as encryption, access controls, and scheduled deletion—ensure long-term compliance and trust.</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7</a:t>
            </a:fld>
            <a:endParaRPr lang="en-US"/>
          </a:p>
        </p:txBody>
      </p:sp>
    </p:spTree>
    <p:extLst>
      <p:ext uri="{BB962C8B-B14F-4D97-AF65-F5344CB8AC3E}">
        <p14:creationId xmlns:p14="http://schemas.microsoft.com/office/powerpoint/2010/main" val="1856977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Governance is what ties this entire system together. I based my framework on two major sources: the NIST AI Risk Management Framework and the OECD AI </a:t>
            </a:r>
            <a:r>
              <a:rPr lang="en-US" dirty="0" err="1" smtClean="0"/>
              <a:t>Principles.NIST</a:t>
            </a:r>
            <a:r>
              <a:rPr lang="en-US" dirty="0" smtClean="0"/>
              <a:t> emphasizes continuous monitoring, documentation, and human oversight. The OECD principles highlight fairness, </a:t>
            </a:r>
            <a:r>
              <a:rPr lang="en-US" dirty="0" err="1" smtClean="0"/>
              <a:t>explainability</a:t>
            </a:r>
            <a:r>
              <a:rPr lang="en-US" dirty="0" smtClean="0"/>
              <a:t>, and accountability—especially when AI affects vulnerable </a:t>
            </a:r>
            <a:r>
              <a:rPr lang="en-US" dirty="0" err="1" smtClean="0"/>
              <a:t>populations.In</a:t>
            </a:r>
            <a:r>
              <a:rPr lang="en-US" dirty="0" smtClean="0"/>
              <a:t> this model, teachers serve as the central governors. They are closest to the students and most capable of identifying when something is </a:t>
            </a:r>
            <a:r>
              <a:rPr lang="en-US" dirty="0" err="1" smtClean="0"/>
              <a:t>off.The</a:t>
            </a:r>
            <a:r>
              <a:rPr lang="en-US" dirty="0" smtClean="0"/>
              <a:t> vendor and school district share oversight responsibilities. This partnership ensures transparency, shared accountability, and rapid response when issues arise.</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8</a:t>
            </a:fld>
            <a:endParaRPr lang="en-US"/>
          </a:p>
        </p:txBody>
      </p:sp>
    </p:spTree>
    <p:extLst>
      <p:ext uri="{BB962C8B-B14F-4D97-AF65-F5344CB8AC3E}">
        <p14:creationId xmlns:p14="http://schemas.microsoft.com/office/powerpoint/2010/main" val="3313954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Generative AI adds new challenges. While it can create explanations, diagrams, or practice problems, it can also produce content that sounds correct but </a:t>
            </a:r>
            <a:r>
              <a:rPr lang="en-US" dirty="0" err="1" smtClean="0"/>
              <a:t>isn’t.A</a:t>
            </a:r>
            <a:r>
              <a:rPr lang="en-US" dirty="0" smtClean="0"/>
              <a:t> student might learn an incorrect concept because the AI generated a convincing—but wrong—explanation. Teachers might also rely too heavily on automatically generated materials, which could reduce professional </a:t>
            </a:r>
            <a:r>
              <a:rPr lang="en-US" dirty="0" err="1" smtClean="0"/>
              <a:t>judgment.Consent</a:t>
            </a:r>
            <a:r>
              <a:rPr lang="en-US" dirty="0" smtClean="0"/>
              <a:t> and privacy become even more important here. Generative models must not use children’s data for training in ways that violate COPPA or </a:t>
            </a:r>
            <a:r>
              <a:rPr lang="en-US" dirty="0" err="1" smtClean="0"/>
              <a:t>FERPA.Guardrails</a:t>
            </a:r>
            <a:r>
              <a:rPr lang="en-US" dirty="0" smtClean="0"/>
              <a:t> are essential: validated content libraries, preview modes, transparency indicators, and workflows that require teachers to edit or approve generated materials before students use them.</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9</a:t>
            </a:fld>
            <a:endParaRPr lang="en-US"/>
          </a:p>
        </p:txBody>
      </p:sp>
    </p:spTree>
    <p:extLst>
      <p:ext uri="{BB962C8B-B14F-4D97-AF65-F5344CB8AC3E}">
        <p14:creationId xmlns:p14="http://schemas.microsoft.com/office/powerpoint/2010/main" val="974272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I worked through this project, one theme became very clear: responsible AI is not a single step. It’s an ongoing process that requires constant </a:t>
            </a:r>
            <a:r>
              <a:rPr lang="en-US" dirty="0" err="1" smtClean="0"/>
              <a:t>attention.Bias</a:t>
            </a:r>
            <a:r>
              <a:rPr lang="en-US" dirty="0" smtClean="0"/>
              <a:t>, privacy, governance, and generative AI ethics all intersect. You can’t address one without addressing the others. And none of these principles matter without consistent human </a:t>
            </a:r>
            <a:r>
              <a:rPr lang="en-US" dirty="0" err="1" smtClean="0"/>
              <a:t>oversight.Ultimately</a:t>
            </a:r>
            <a:r>
              <a:rPr lang="en-US" dirty="0" smtClean="0"/>
              <a:t>, if AI is going to support early STEM learning, it must do so in a way that is transparent, fair, accountable, and always centered on the needs of </a:t>
            </a:r>
            <a:r>
              <a:rPr lang="en-US" dirty="0" err="1" smtClean="0"/>
              <a:t>children.Thank</a:t>
            </a:r>
            <a:r>
              <a:rPr lang="en-US" dirty="0" smtClean="0"/>
              <a:t> you for listening, and I look forward to any questions you may have.</a:t>
            </a:r>
            <a:endParaRPr lang="en-US" dirty="0"/>
          </a:p>
        </p:txBody>
      </p:sp>
      <p:sp>
        <p:nvSpPr>
          <p:cNvPr id="4" name="Slide Number Placeholder 3"/>
          <p:cNvSpPr>
            <a:spLocks noGrp="1"/>
          </p:cNvSpPr>
          <p:nvPr>
            <p:ph type="sldNum" sz="quarter" idx="10"/>
          </p:nvPr>
        </p:nvSpPr>
        <p:spPr/>
        <p:txBody>
          <a:bodyPr/>
          <a:lstStyle/>
          <a:p>
            <a:fld id="{C8C84998-A3F3-47F0-A2AA-1204662A554A}" type="slidenum">
              <a:rPr lang="en-US" smtClean="0"/>
              <a:t>10</a:t>
            </a:fld>
            <a:endParaRPr lang="en-US"/>
          </a:p>
        </p:txBody>
      </p:sp>
    </p:spTree>
    <p:extLst>
      <p:ext uri="{BB962C8B-B14F-4D97-AF65-F5344CB8AC3E}">
        <p14:creationId xmlns:p14="http://schemas.microsoft.com/office/powerpoint/2010/main" val="3448264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3957484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1814596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292929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30321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05553D7-66A7-481A-9CB0-D848B5592808}"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1129419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05553D7-66A7-481A-9CB0-D848B5592808}"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54337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5553D7-66A7-481A-9CB0-D848B5592808}"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33647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1595958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3937998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2582840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6D5B7A-4179-4FFF-B058-4FA84FDD025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18858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2404535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6D5B7A-4179-4FFF-B058-4FA84FDD025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06973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05553D7-66A7-481A-9CB0-D848B5592808}"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2326140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1229325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5553D7-66A7-481A-9CB0-D848B5592808}"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6D5B7A-4179-4FFF-B058-4FA84FDD025F}" type="slidenum">
              <a:rPr lang="en-US" smtClean="0"/>
              <a:t>‹#›</a:t>
            </a:fld>
            <a:endParaRPr lang="en-US"/>
          </a:p>
        </p:txBody>
      </p:sp>
    </p:spTree>
    <p:extLst>
      <p:ext uri="{BB962C8B-B14F-4D97-AF65-F5344CB8AC3E}">
        <p14:creationId xmlns:p14="http://schemas.microsoft.com/office/powerpoint/2010/main" val="169589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05553D7-66A7-481A-9CB0-D848B5592808}" type="datetimeFigureOut">
              <a:rPr lang="en-US" smtClean="0"/>
              <a:t>6/15/2026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F6D5B7A-4179-4FFF-B058-4FA84FDD025F}" type="slidenum">
              <a:rPr lang="en-US" smtClean="0"/>
              <a:t>‹#›</a:t>
            </a:fld>
            <a:endParaRPr lang="en-US"/>
          </a:p>
        </p:txBody>
      </p:sp>
    </p:spTree>
    <p:extLst>
      <p:ext uri="{BB962C8B-B14F-4D97-AF65-F5344CB8AC3E}">
        <p14:creationId xmlns:p14="http://schemas.microsoft.com/office/powerpoint/2010/main" val="257210757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53436"/>
            <a:ext cx="9144000" cy="2387600"/>
          </a:xfrm>
        </p:spPr>
        <p:txBody>
          <a:bodyPr>
            <a:normAutofit fontScale="90000"/>
          </a:bodyPr>
          <a:lstStyle/>
          <a:p>
            <a:r>
              <a:rPr lang="en-US" dirty="0" smtClean="0"/>
              <a:t>Responsible AI in Early STEM Education: Adaptive K–5 Learning Tutor</a:t>
            </a:r>
            <a:endParaRPr lang="en-US" dirty="0"/>
          </a:p>
        </p:txBody>
      </p:sp>
      <p:sp>
        <p:nvSpPr>
          <p:cNvPr id="3" name="Subtitle 2"/>
          <p:cNvSpPr>
            <a:spLocks noGrp="1"/>
          </p:cNvSpPr>
          <p:nvPr>
            <p:ph type="subTitle" idx="1"/>
          </p:nvPr>
        </p:nvSpPr>
        <p:spPr>
          <a:xfrm>
            <a:off x="1468582" y="4350183"/>
            <a:ext cx="9144000" cy="1655762"/>
          </a:xfrm>
        </p:spPr>
        <p:txBody>
          <a:bodyPr/>
          <a:lstStyle/>
          <a:p>
            <a:pPr algn="ctr"/>
            <a:r>
              <a:rPr lang="en-US" b="1" dirty="0" smtClean="0"/>
              <a:t>Unit 8 Presentation</a:t>
            </a:r>
          </a:p>
          <a:p>
            <a:pPr algn="ctr"/>
            <a:r>
              <a:rPr lang="en-US" b="1" dirty="0" smtClean="0"/>
              <a:t>Matthew Kolonich</a:t>
            </a:r>
            <a:endParaRPr lang="en-US" b="1" dirty="0"/>
          </a:p>
        </p:txBody>
      </p:sp>
    </p:spTree>
    <p:extLst>
      <p:ext uri="{BB962C8B-B14F-4D97-AF65-F5344CB8AC3E}">
        <p14:creationId xmlns:p14="http://schemas.microsoft.com/office/powerpoint/2010/main" val="199694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Why This Project Matters</a:t>
            </a:r>
            <a:endParaRPr lang="en-US" dirty="0"/>
          </a:p>
        </p:txBody>
      </p:sp>
      <p:sp>
        <p:nvSpPr>
          <p:cNvPr id="3" name="Content Placeholder 2"/>
          <p:cNvSpPr>
            <a:spLocks noGrp="1"/>
          </p:cNvSpPr>
          <p:nvPr>
            <p:ph idx="1"/>
          </p:nvPr>
        </p:nvSpPr>
        <p:spPr/>
        <p:txBody>
          <a:bodyPr>
            <a:normAutofit lnSpcReduction="10000"/>
          </a:bodyPr>
          <a:lstStyle/>
          <a:p>
            <a:pPr algn="ctr"/>
            <a:r>
              <a:rPr lang="en-US" sz="2400" dirty="0" smtClean="0"/>
              <a:t>Early learning is a high-impact stage for AI intervention</a:t>
            </a:r>
          </a:p>
          <a:p>
            <a:pPr algn="ctr"/>
            <a:endParaRPr lang="en-US" sz="2400" dirty="0" smtClean="0"/>
          </a:p>
          <a:p>
            <a:pPr algn="ctr"/>
            <a:r>
              <a:rPr lang="en-US" sz="2400" dirty="0" smtClean="0"/>
              <a:t>Children are a legally and ethically protected group</a:t>
            </a:r>
          </a:p>
          <a:p>
            <a:pPr algn="ctr"/>
            <a:endParaRPr lang="en-US" sz="2400" dirty="0" smtClean="0"/>
          </a:p>
          <a:p>
            <a:pPr algn="ctr"/>
            <a:r>
              <a:rPr lang="en-US" sz="2400" dirty="0" smtClean="0"/>
              <a:t>AI tools can help personalize instruction, but also introduce risks</a:t>
            </a:r>
          </a:p>
          <a:p>
            <a:pPr algn="ctr"/>
            <a:endParaRPr lang="en-US" sz="2400" dirty="0" smtClean="0"/>
          </a:p>
          <a:p>
            <a:pPr algn="ctr"/>
            <a:r>
              <a:rPr lang="en-US" sz="2400" dirty="0" smtClean="0"/>
              <a:t>Responsible AI is essential in K–5 settings</a:t>
            </a:r>
          </a:p>
          <a:p>
            <a:pPr algn="ctr"/>
            <a:endParaRPr lang="en-US" sz="2400" dirty="0" smtClean="0"/>
          </a:p>
          <a:p>
            <a:endParaRPr lang="en-US" dirty="0"/>
          </a:p>
        </p:txBody>
      </p:sp>
    </p:spTree>
    <p:extLst>
      <p:ext uri="{BB962C8B-B14F-4D97-AF65-F5344CB8AC3E}">
        <p14:creationId xmlns:p14="http://schemas.microsoft.com/office/powerpoint/2010/main" val="3083735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Proposed AI Use Case: Adaptive STEM Tutor</a:t>
            </a:r>
            <a:endParaRPr lang="en-US" dirty="0"/>
          </a:p>
        </p:txBody>
      </p:sp>
      <p:sp>
        <p:nvSpPr>
          <p:cNvPr id="3" name="Content Placeholder 2"/>
          <p:cNvSpPr>
            <a:spLocks noGrp="1"/>
          </p:cNvSpPr>
          <p:nvPr>
            <p:ph idx="1"/>
          </p:nvPr>
        </p:nvSpPr>
        <p:spPr/>
        <p:txBody>
          <a:bodyPr>
            <a:normAutofit fontScale="92500"/>
          </a:bodyPr>
          <a:lstStyle/>
          <a:p>
            <a:pPr algn="ctr"/>
            <a:r>
              <a:rPr lang="en-US" sz="2400" dirty="0" smtClean="0"/>
              <a:t>Supports K–5 math and science reasoning</a:t>
            </a:r>
          </a:p>
          <a:p>
            <a:pPr algn="ctr"/>
            <a:endParaRPr lang="en-US" sz="2400" dirty="0" smtClean="0"/>
          </a:p>
          <a:p>
            <a:pPr algn="ctr"/>
            <a:r>
              <a:rPr lang="en-US" sz="2400" dirty="0" smtClean="0"/>
              <a:t>Adjusts difficulty, pacing, and lesson sequence</a:t>
            </a:r>
          </a:p>
          <a:p>
            <a:pPr algn="ctr"/>
            <a:endParaRPr lang="en-US" sz="2400" dirty="0" smtClean="0"/>
          </a:p>
          <a:p>
            <a:pPr algn="ctr"/>
            <a:r>
              <a:rPr lang="en-US" sz="2400" dirty="0" smtClean="0"/>
              <a:t>Provides teacher dashboards for insights and intervention</a:t>
            </a:r>
          </a:p>
          <a:p>
            <a:pPr algn="ctr"/>
            <a:endParaRPr lang="en-US" sz="2400" dirty="0" smtClean="0"/>
          </a:p>
          <a:p>
            <a:pPr algn="ctr"/>
            <a:r>
              <a:rPr lang="en-US" sz="2400" dirty="0" smtClean="0"/>
              <a:t>Designed to promote learning equity and prevent students from falling behind</a:t>
            </a:r>
          </a:p>
          <a:p>
            <a:pPr algn="ctr"/>
            <a:endParaRPr lang="en-US" sz="2400" dirty="0"/>
          </a:p>
        </p:txBody>
      </p:sp>
    </p:spTree>
    <p:extLst>
      <p:ext uri="{BB962C8B-B14F-4D97-AF65-F5344CB8AC3E}">
        <p14:creationId xmlns:p14="http://schemas.microsoft.com/office/powerpoint/2010/main" val="28143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Why Education &amp; AI Demand Responsible Design</a:t>
            </a:r>
            <a:endParaRPr lang="en-US" dirty="0"/>
          </a:p>
        </p:txBody>
      </p:sp>
      <p:sp>
        <p:nvSpPr>
          <p:cNvPr id="3" name="Content Placeholder 2"/>
          <p:cNvSpPr>
            <a:spLocks noGrp="1"/>
          </p:cNvSpPr>
          <p:nvPr>
            <p:ph idx="1"/>
          </p:nvPr>
        </p:nvSpPr>
        <p:spPr/>
        <p:txBody>
          <a:bodyPr>
            <a:normAutofit/>
          </a:bodyPr>
          <a:lstStyle/>
          <a:p>
            <a:pPr algn="ctr"/>
            <a:r>
              <a:rPr lang="en-US" sz="2400" dirty="0" smtClean="0"/>
              <a:t>Children covered under laws like COPPA &amp; FERPA</a:t>
            </a:r>
          </a:p>
          <a:p>
            <a:pPr algn="ctr"/>
            <a:endParaRPr lang="en-US" sz="2400" dirty="0" smtClean="0"/>
          </a:p>
          <a:p>
            <a:pPr algn="ctr"/>
            <a:r>
              <a:rPr lang="en-US" sz="2400" dirty="0" smtClean="0"/>
              <a:t>Early learners cannot understand digital risks</a:t>
            </a:r>
          </a:p>
          <a:p>
            <a:pPr algn="ctr"/>
            <a:endParaRPr lang="en-US" sz="2400" dirty="0" smtClean="0"/>
          </a:p>
          <a:p>
            <a:pPr algn="ctr"/>
            <a:r>
              <a:rPr lang="en-US" sz="2400" dirty="0" smtClean="0"/>
              <a:t>Misinterpretation can affect academic identity</a:t>
            </a:r>
          </a:p>
          <a:p>
            <a:pPr algn="ctr"/>
            <a:endParaRPr lang="en-US" sz="2400" dirty="0" smtClean="0"/>
          </a:p>
          <a:p>
            <a:pPr algn="ctr"/>
            <a:r>
              <a:rPr lang="en-US" sz="2400" dirty="0" smtClean="0"/>
              <a:t>Human oversight required at all steps</a:t>
            </a:r>
          </a:p>
          <a:p>
            <a:pPr algn="ctr"/>
            <a:endParaRPr lang="en-US" sz="2400" dirty="0"/>
          </a:p>
        </p:txBody>
      </p:sp>
    </p:spTree>
    <p:extLst>
      <p:ext uri="{BB962C8B-B14F-4D97-AF65-F5344CB8AC3E}">
        <p14:creationId xmlns:p14="http://schemas.microsoft.com/office/powerpoint/2010/main" val="75288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Bias Risks in Adaptive AI Systems</a:t>
            </a:r>
            <a:endParaRPr lang="en-US" dirty="0"/>
          </a:p>
        </p:txBody>
      </p:sp>
      <p:sp>
        <p:nvSpPr>
          <p:cNvPr id="3" name="Content Placeholder 2"/>
          <p:cNvSpPr>
            <a:spLocks noGrp="1"/>
          </p:cNvSpPr>
          <p:nvPr>
            <p:ph idx="1"/>
          </p:nvPr>
        </p:nvSpPr>
        <p:spPr/>
        <p:txBody>
          <a:bodyPr>
            <a:normAutofit lnSpcReduction="10000"/>
          </a:bodyPr>
          <a:lstStyle/>
          <a:p>
            <a:pPr algn="ctr"/>
            <a:r>
              <a:rPr lang="en-US" sz="2400" dirty="0" smtClean="0"/>
              <a:t>Training data may </a:t>
            </a:r>
            <a:r>
              <a:rPr lang="en-US" sz="2400" dirty="0" err="1" smtClean="0"/>
              <a:t>overrepresent</a:t>
            </a:r>
            <a:r>
              <a:rPr lang="en-US" sz="2400" dirty="0" smtClean="0"/>
              <a:t> wealthier, English-dominant districts</a:t>
            </a:r>
          </a:p>
          <a:p>
            <a:pPr algn="ctr"/>
            <a:endParaRPr lang="en-US" sz="2400" dirty="0" smtClean="0"/>
          </a:p>
          <a:p>
            <a:pPr algn="ctr"/>
            <a:r>
              <a:rPr lang="en-US" sz="2400" dirty="0" smtClean="0"/>
              <a:t>Slow response ≠ low understanding</a:t>
            </a:r>
          </a:p>
          <a:p>
            <a:pPr algn="ctr"/>
            <a:endParaRPr lang="en-US" sz="2400" dirty="0" smtClean="0"/>
          </a:p>
          <a:p>
            <a:pPr algn="ctr"/>
            <a:r>
              <a:rPr lang="en-US" sz="2400" dirty="0" smtClean="0"/>
              <a:t>Overemphasis on speed rewards guessers</a:t>
            </a:r>
          </a:p>
          <a:p>
            <a:pPr algn="ctr"/>
            <a:endParaRPr lang="en-US" sz="2400" dirty="0" smtClean="0"/>
          </a:p>
          <a:p>
            <a:pPr algn="ctr"/>
            <a:r>
              <a:rPr lang="en-US" sz="2400" dirty="0" smtClean="0"/>
              <a:t>Micro-biases accumulate over time</a:t>
            </a:r>
          </a:p>
          <a:p>
            <a:pPr algn="ctr"/>
            <a:endParaRPr lang="en-US" sz="2400" dirty="0"/>
          </a:p>
        </p:txBody>
      </p:sp>
    </p:spTree>
    <p:extLst>
      <p:ext uri="{BB962C8B-B14F-4D97-AF65-F5344CB8AC3E}">
        <p14:creationId xmlns:p14="http://schemas.microsoft.com/office/powerpoint/2010/main" val="88558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Ensuring Fair and Equitable AI Decisions</a:t>
            </a:r>
            <a:endParaRPr lang="en-US" dirty="0"/>
          </a:p>
        </p:txBody>
      </p:sp>
      <p:sp>
        <p:nvSpPr>
          <p:cNvPr id="3" name="Content Placeholder 2"/>
          <p:cNvSpPr>
            <a:spLocks noGrp="1"/>
          </p:cNvSpPr>
          <p:nvPr>
            <p:ph idx="1"/>
          </p:nvPr>
        </p:nvSpPr>
        <p:spPr/>
        <p:txBody>
          <a:bodyPr>
            <a:normAutofit/>
          </a:bodyPr>
          <a:lstStyle/>
          <a:p>
            <a:pPr algn="ctr"/>
            <a:r>
              <a:rPr lang="en-US" sz="2400" dirty="0" smtClean="0"/>
              <a:t>Teacher-guided review of AI recommendations</a:t>
            </a:r>
          </a:p>
          <a:p>
            <a:pPr algn="ctr"/>
            <a:endParaRPr lang="en-US" sz="2400" dirty="0" smtClean="0"/>
          </a:p>
          <a:p>
            <a:pPr algn="ctr"/>
            <a:r>
              <a:rPr lang="en-US" sz="2400" dirty="0" err="1" smtClean="0"/>
              <a:t>Explainability</a:t>
            </a:r>
            <a:r>
              <a:rPr lang="en-US" sz="2400" dirty="0" smtClean="0"/>
              <a:t> tools to show why tasks were assigned</a:t>
            </a:r>
          </a:p>
          <a:p>
            <a:pPr algn="ctr"/>
            <a:endParaRPr lang="en-US" sz="2400" dirty="0" smtClean="0"/>
          </a:p>
          <a:p>
            <a:pPr algn="ctr"/>
            <a:r>
              <a:rPr lang="en-US" sz="2400" dirty="0" smtClean="0"/>
              <a:t>Intervention workflows for inconsistencies</a:t>
            </a:r>
          </a:p>
          <a:p>
            <a:pPr algn="ctr"/>
            <a:endParaRPr lang="en-US" sz="2400" dirty="0" smtClean="0"/>
          </a:p>
          <a:p>
            <a:pPr algn="ctr"/>
            <a:r>
              <a:rPr lang="en-US" sz="2400" dirty="0" smtClean="0"/>
              <a:t>Recurring bias audits + model drift monitoring</a:t>
            </a:r>
          </a:p>
          <a:p>
            <a:pPr algn="ctr"/>
            <a:endParaRPr lang="en-US" sz="2400" dirty="0"/>
          </a:p>
        </p:txBody>
      </p:sp>
    </p:spTree>
    <p:extLst>
      <p:ext uri="{BB962C8B-B14F-4D97-AF65-F5344CB8AC3E}">
        <p14:creationId xmlns:p14="http://schemas.microsoft.com/office/powerpoint/2010/main" val="3799620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&amp; Data Protection for Children</a:t>
            </a:r>
            <a:endParaRPr lang="en-US" dirty="0"/>
          </a:p>
        </p:txBody>
      </p:sp>
      <p:sp>
        <p:nvSpPr>
          <p:cNvPr id="3" name="Content Placeholder 2"/>
          <p:cNvSpPr>
            <a:spLocks noGrp="1"/>
          </p:cNvSpPr>
          <p:nvPr>
            <p:ph idx="1"/>
          </p:nvPr>
        </p:nvSpPr>
        <p:spPr/>
        <p:txBody>
          <a:bodyPr>
            <a:normAutofit fontScale="92500" lnSpcReduction="20000"/>
          </a:bodyPr>
          <a:lstStyle/>
          <a:p>
            <a:pPr algn="ctr"/>
            <a:r>
              <a:rPr lang="en-US" sz="2400" dirty="0" smtClean="0"/>
              <a:t>Children's data is highly sensitive</a:t>
            </a:r>
          </a:p>
          <a:p>
            <a:pPr algn="ctr"/>
            <a:endParaRPr lang="en-US" sz="2400" dirty="0" smtClean="0"/>
          </a:p>
          <a:p>
            <a:pPr algn="ctr"/>
            <a:r>
              <a:rPr lang="en-US" sz="2400" dirty="0" smtClean="0"/>
              <a:t>Limit data collection to educational purpose</a:t>
            </a:r>
          </a:p>
          <a:p>
            <a:pPr algn="ctr"/>
            <a:endParaRPr lang="en-US" sz="2400" dirty="0" smtClean="0"/>
          </a:p>
          <a:p>
            <a:pPr algn="ctr"/>
            <a:r>
              <a:rPr lang="en-US" sz="2400" dirty="0" smtClean="0"/>
              <a:t>Anonymized reporting &amp; local storage</a:t>
            </a:r>
          </a:p>
          <a:p>
            <a:pPr algn="ctr"/>
            <a:endParaRPr lang="en-US" sz="2400" dirty="0" smtClean="0"/>
          </a:p>
          <a:p>
            <a:pPr algn="ctr"/>
            <a:r>
              <a:rPr lang="en-US" sz="2400" dirty="0" smtClean="0"/>
              <a:t>Parental consent per COPPA; transparency in data use</a:t>
            </a:r>
          </a:p>
          <a:p>
            <a:pPr algn="ctr"/>
            <a:endParaRPr lang="en-US" sz="2400" dirty="0" smtClean="0"/>
          </a:p>
          <a:p>
            <a:pPr algn="ctr"/>
            <a:r>
              <a:rPr lang="en-US" sz="2400" dirty="0" smtClean="0"/>
              <a:t>Encryption, access controls, deletion cycles</a:t>
            </a:r>
          </a:p>
          <a:p>
            <a:pPr algn="ctr"/>
            <a:endParaRPr lang="en-US" sz="2400" dirty="0"/>
          </a:p>
        </p:txBody>
      </p:sp>
    </p:spTree>
    <p:extLst>
      <p:ext uri="{BB962C8B-B14F-4D97-AF65-F5344CB8AC3E}">
        <p14:creationId xmlns:p14="http://schemas.microsoft.com/office/powerpoint/2010/main" val="1941393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Responsible AI Governance in Schools</a:t>
            </a:r>
          </a:p>
        </p:txBody>
      </p:sp>
      <p:sp>
        <p:nvSpPr>
          <p:cNvPr id="3" name="Content Placeholder 2"/>
          <p:cNvSpPr>
            <a:spLocks noGrp="1"/>
          </p:cNvSpPr>
          <p:nvPr>
            <p:ph idx="1"/>
          </p:nvPr>
        </p:nvSpPr>
        <p:spPr/>
        <p:txBody>
          <a:bodyPr>
            <a:normAutofit/>
          </a:bodyPr>
          <a:lstStyle/>
          <a:p>
            <a:pPr algn="ctr"/>
            <a:r>
              <a:rPr lang="en-US" sz="2400" dirty="0" smtClean="0"/>
              <a:t>NIST AI RMF: risk mapping, monitoring, human review</a:t>
            </a:r>
          </a:p>
          <a:p>
            <a:pPr algn="ctr"/>
            <a:endParaRPr lang="en-US" sz="2400" dirty="0" smtClean="0"/>
          </a:p>
          <a:p>
            <a:pPr algn="ctr"/>
            <a:r>
              <a:rPr lang="en-US" sz="2400" dirty="0" smtClean="0"/>
              <a:t>OECD Principles: fairness, </a:t>
            </a:r>
            <a:r>
              <a:rPr lang="en-US" sz="2400" dirty="0" err="1" smtClean="0"/>
              <a:t>explainability</a:t>
            </a:r>
            <a:r>
              <a:rPr lang="en-US" sz="2400" dirty="0" smtClean="0"/>
              <a:t>, accountability</a:t>
            </a:r>
          </a:p>
          <a:p>
            <a:pPr algn="ctr"/>
            <a:endParaRPr lang="en-US" sz="2400" dirty="0" smtClean="0"/>
          </a:p>
          <a:p>
            <a:pPr algn="ctr"/>
            <a:r>
              <a:rPr lang="en-US" sz="2400" dirty="0" smtClean="0"/>
              <a:t>Teachers act as central governors</a:t>
            </a:r>
          </a:p>
          <a:p>
            <a:pPr algn="ctr"/>
            <a:endParaRPr lang="en-US" sz="2400" dirty="0" smtClean="0"/>
          </a:p>
          <a:p>
            <a:pPr algn="ctr"/>
            <a:r>
              <a:rPr lang="en-US" sz="2400" dirty="0" smtClean="0"/>
              <a:t>Shared vendor–district oversight</a:t>
            </a:r>
          </a:p>
          <a:p>
            <a:pPr algn="ctr"/>
            <a:endParaRPr lang="en-US" sz="2400" dirty="0"/>
          </a:p>
        </p:txBody>
      </p:sp>
    </p:spTree>
    <p:extLst>
      <p:ext uri="{BB962C8B-B14F-4D97-AF65-F5344CB8AC3E}">
        <p14:creationId xmlns:p14="http://schemas.microsoft.com/office/powerpoint/2010/main" val="2238939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Ethical Implications of Generative AI</a:t>
            </a:r>
            <a:endParaRPr lang="en-US" dirty="0"/>
          </a:p>
        </p:txBody>
      </p:sp>
      <p:sp>
        <p:nvSpPr>
          <p:cNvPr id="3" name="Content Placeholder 2"/>
          <p:cNvSpPr>
            <a:spLocks noGrp="1"/>
          </p:cNvSpPr>
          <p:nvPr>
            <p:ph idx="1"/>
          </p:nvPr>
        </p:nvSpPr>
        <p:spPr/>
        <p:txBody>
          <a:bodyPr>
            <a:normAutofit fontScale="85000" lnSpcReduction="20000"/>
          </a:bodyPr>
          <a:lstStyle/>
          <a:p>
            <a:pPr algn="ctr"/>
            <a:r>
              <a:rPr lang="en-US" sz="2400" dirty="0" smtClean="0"/>
              <a:t>Risk of incorrect or misleading explanations</a:t>
            </a:r>
          </a:p>
          <a:p>
            <a:pPr algn="ctr"/>
            <a:endParaRPr lang="en-US" sz="2400" dirty="0" smtClean="0"/>
          </a:p>
          <a:p>
            <a:pPr algn="ctr"/>
            <a:r>
              <a:rPr lang="en-US" sz="2400" dirty="0" smtClean="0"/>
              <a:t>Over-reliance by students and teachers</a:t>
            </a:r>
          </a:p>
          <a:p>
            <a:pPr algn="ctr"/>
            <a:endParaRPr lang="en-US" sz="2400" dirty="0" smtClean="0"/>
          </a:p>
          <a:p>
            <a:pPr algn="ctr"/>
            <a:r>
              <a:rPr lang="en-US" sz="2400" dirty="0" smtClean="0"/>
              <a:t>Consent + COPPA concerns</a:t>
            </a:r>
          </a:p>
          <a:p>
            <a:pPr algn="ctr"/>
            <a:endParaRPr lang="en-US" sz="2400" dirty="0" smtClean="0"/>
          </a:p>
          <a:p>
            <a:pPr algn="ctr"/>
            <a:r>
              <a:rPr lang="en-US" sz="2400" dirty="0" smtClean="0"/>
              <a:t>Guardrails: validated content libraries, preview modes, transparency</a:t>
            </a:r>
          </a:p>
          <a:p>
            <a:pPr algn="ctr"/>
            <a:endParaRPr lang="en-US" sz="2400" dirty="0" smtClean="0"/>
          </a:p>
          <a:p>
            <a:pPr algn="ctr"/>
            <a:r>
              <a:rPr lang="en-US" sz="2400" dirty="0" smtClean="0"/>
              <a:t>Required teacher edits for generated materials</a:t>
            </a:r>
          </a:p>
          <a:p>
            <a:pPr algn="ctr"/>
            <a:endParaRPr lang="en-US" sz="2400" dirty="0"/>
          </a:p>
        </p:txBody>
      </p:sp>
    </p:spTree>
    <p:extLst>
      <p:ext uri="{BB962C8B-B14F-4D97-AF65-F5344CB8AC3E}">
        <p14:creationId xmlns:p14="http://schemas.microsoft.com/office/powerpoint/2010/main" val="3095694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Final Reflection: What Responsible AI Requires</a:t>
            </a:r>
            <a:endParaRPr lang="en-US" dirty="0"/>
          </a:p>
        </p:txBody>
      </p:sp>
      <p:sp>
        <p:nvSpPr>
          <p:cNvPr id="3" name="Content Placeholder 2"/>
          <p:cNvSpPr>
            <a:spLocks noGrp="1"/>
          </p:cNvSpPr>
          <p:nvPr>
            <p:ph idx="1"/>
          </p:nvPr>
        </p:nvSpPr>
        <p:spPr/>
        <p:txBody>
          <a:bodyPr>
            <a:normAutofit lnSpcReduction="10000"/>
          </a:bodyPr>
          <a:lstStyle/>
          <a:p>
            <a:pPr algn="ctr"/>
            <a:r>
              <a:rPr lang="en-US" sz="2400" dirty="0" smtClean="0"/>
              <a:t>Responsible AI is a continuous process</a:t>
            </a:r>
          </a:p>
          <a:p>
            <a:pPr algn="ctr"/>
            <a:endParaRPr lang="en-US" sz="2400" dirty="0" smtClean="0"/>
          </a:p>
          <a:p>
            <a:pPr algn="ctr"/>
            <a:r>
              <a:rPr lang="en-US" sz="2400" dirty="0" smtClean="0"/>
              <a:t>Bias, privacy, governance, ethics must work together</a:t>
            </a:r>
          </a:p>
          <a:p>
            <a:pPr algn="ctr"/>
            <a:endParaRPr lang="en-US" sz="2400" dirty="0" smtClean="0"/>
          </a:p>
          <a:p>
            <a:pPr algn="ctr"/>
            <a:r>
              <a:rPr lang="en-US" sz="2400" dirty="0" smtClean="0"/>
              <a:t>Human oversight cannot be replaced</a:t>
            </a:r>
          </a:p>
          <a:p>
            <a:pPr algn="ctr"/>
            <a:endParaRPr lang="en-US" sz="2400" dirty="0" smtClean="0"/>
          </a:p>
          <a:p>
            <a:pPr algn="ctr"/>
            <a:r>
              <a:rPr lang="en-US" sz="2400" dirty="0" smtClean="0"/>
              <a:t>With strong safeguards, AI can support—not harm—early learning</a:t>
            </a:r>
          </a:p>
          <a:p>
            <a:pPr algn="ctr"/>
            <a:endParaRPr lang="en-US" sz="2400" dirty="0"/>
          </a:p>
        </p:txBody>
      </p:sp>
    </p:spTree>
    <p:extLst>
      <p:ext uri="{BB962C8B-B14F-4D97-AF65-F5344CB8AC3E}">
        <p14:creationId xmlns:p14="http://schemas.microsoft.com/office/powerpoint/2010/main" val="237867590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TotalTime>
  <Words>1430</Words>
  <Application>Microsoft Office PowerPoint</Application>
  <PresentationFormat>Widescreen</PresentationFormat>
  <Paragraphs>99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Wisp</vt:lpstr>
      <vt:lpstr>Responsible AI in Early STEM Education: Adaptive K–5 Learning Tutor</vt:lpstr>
      <vt:lpstr>Why This Project Matters</vt:lpstr>
      <vt:lpstr>Proposed AI Use Case: Adaptive STEM Tutor</vt:lpstr>
      <vt:lpstr>Why Education &amp; AI Demand Responsible Design</vt:lpstr>
      <vt:lpstr>Bias Risks in Adaptive AI Systems</vt:lpstr>
      <vt:lpstr>Ensuring Fair and Equitable AI Decisions</vt:lpstr>
      <vt:lpstr>Privacy &amp; Data Protection for Children</vt:lpstr>
      <vt:lpstr>Responsible AI Governance in Schools</vt:lpstr>
      <vt:lpstr>Ethical Implications of Generative AI</vt:lpstr>
      <vt:lpstr>Final Reflection: What Responsible AI Requires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in Early STEM Education: Adaptive K–5 Learning Tutor</dc:title>
  <dc:creator>bob lynn</dc:creator>
  <cp:lastModifiedBy>bob lynn</cp:lastModifiedBy>
  <cp:revision>5</cp:revision>
  <dcterms:created xsi:type="dcterms:W3CDTF">2025-12-09T16:28:53Z</dcterms:created>
  <dcterms:modified xsi:type="dcterms:W3CDTF">2026-06-15T18:32:59Z</dcterms:modified>
</cp:coreProperties>
</file>