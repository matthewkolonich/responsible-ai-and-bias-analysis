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11" autoAdjust="0"/>
    <p:restoredTop sz="80842" autoAdjust="0"/>
  </p:normalViewPr>
  <p:slideViewPr>
    <p:cSldViewPr snapToGrid="0">
      <p:cViewPr varScale="1">
        <p:scale>
          <a:sx n="74" d="100"/>
          <a:sy n="74" d="100"/>
        </p:scale>
        <p:origin x="111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FFA488-9303-47B1-AABD-2D38CA9CEBF1}" type="datetimeFigureOut">
              <a:rPr lang="en-US" smtClean="0"/>
              <a:t>6/19/2026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6095A6-6E6E-417A-B1D7-D679F854DAC1}" type="slidenum">
              <a:rPr lang="en-US" smtClean="0"/>
              <a:t>‹#›</a:t>
            </a:fld>
            <a:endParaRPr lang="en-US"/>
          </a:p>
        </p:txBody>
      </p:sp>
    </p:spTree>
    <p:extLst>
      <p:ext uri="{BB962C8B-B14F-4D97-AF65-F5344CB8AC3E}">
        <p14:creationId xmlns:p14="http://schemas.microsoft.com/office/powerpoint/2010/main" val="2260303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presentation explores how artificial intelligence can transform the healthcare system by improving diagnosis, optimizing operations, and supporting clinical decision-making. As healthcare faces increasing demand and complexity, AI offers new ways to improve both efficiency and patient outcomes.”</a:t>
            </a:r>
          </a:p>
          <a:p>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slide introduces the overall purpose of the presentation and establishes the connection between AI and healthcare transformation. It sets the tone for a structured and analytical discussion.</a:t>
            </a:r>
            <a:br>
              <a:rPr lang="en-US" dirty="0" smtClean="0"/>
            </a:br>
            <a:r>
              <a:rPr lang="en-US" dirty="0" smtClean="0"/>
              <a:t>It also signals that the presentation will focus not just on technology, but on real-world impact.</a:t>
            </a:r>
            <a:br>
              <a:rPr lang="en-US" dirty="0" smtClean="0"/>
            </a:br>
            <a:r>
              <a:rPr lang="en-US" dirty="0" smtClean="0"/>
              <a:t>The title frames AI as a tool for change rather than replacement, which is a key theme throughout.</a:t>
            </a:r>
          </a:p>
          <a:p>
            <a:endParaRPr lang="en-US" dirty="0" smtClean="0"/>
          </a:p>
        </p:txBody>
      </p:sp>
      <p:sp>
        <p:nvSpPr>
          <p:cNvPr id="4" name="Slide Number Placeholder 3"/>
          <p:cNvSpPr>
            <a:spLocks noGrp="1"/>
          </p:cNvSpPr>
          <p:nvPr>
            <p:ph type="sldNum" sz="quarter" idx="10"/>
          </p:nvPr>
        </p:nvSpPr>
        <p:spPr/>
        <p:txBody>
          <a:bodyPr/>
          <a:lstStyle/>
          <a:p>
            <a:fld id="{236095A6-6E6E-417A-B1D7-D679F854DAC1}" type="slidenum">
              <a:rPr lang="en-US" smtClean="0"/>
              <a:t>1</a:t>
            </a:fld>
            <a:endParaRPr lang="en-US"/>
          </a:p>
        </p:txBody>
      </p:sp>
    </p:spTree>
    <p:extLst>
      <p:ext uri="{BB962C8B-B14F-4D97-AF65-F5344CB8AC3E}">
        <p14:creationId xmlns:p14="http://schemas.microsoft.com/office/powerpoint/2010/main" val="753428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“The healthcare system is highly complex and relies on large amounts of data, coordination, and human decision-making. As demand for services increases, providers face challenges related to staffing, efficiency, and patient care quality. These challenges create an opportunity for AI to improve how healthcare operates.”</a:t>
            </a:r>
          </a:p>
          <a:p>
            <a:r>
              <a:rPr lang="en-US" dirty="0" smtClean="0"/>
              <a:t> </a:t>
            </a:r>
          </a:p>
          <a:p>
            <a:r>
              <a:rPr lang="en-US" dirty="0" smtClean="0"/>
              <a:t>This slide explains the current state of healthcare and why transformation is needed. AI adoption is increasing across industries, but healthcare remains a high-impact area where improvements can significantly affect outcomes (</a:t>
            </a:r>
            <a:r>
              <a:rPr lang="en-US" dirty="0" err="1" smtClean="0"/>
              <a:t>Maslej</a:t>
            </a:r>
            <a:r>
              <a:rPr lang="en-US" dirty="0" smtClean="0"/>
              <a:t> et al., 2024).</a:t>
            </a:r>
            <a:br>
              <a:rPr lang="en-US" dirty="0" smtClean="0"/>
            </a:br>
            <a:r>
              <a:rPr lang="en-US" dirty="0" smtClean="0"/>
              <a:t>It emphasizes the pressure on healthcare systems due to demand and complexity.</a:t>
            </a:r>
            <a:br>
              <a:rPr lang="en-US" dirty="0" smtClean="0"/>
            </a:br>
            <a:r>
              <a:rPr lang="en-US" dirty="0" smtClean="0"/>
              <a:t>This context helps justify why AI is not optional, but necessary for future sustainability.</a:t>
            </a:r>
          </a:p>
        </p:txBody>
      </p:sp>
      <p:sp>
        <p:nvSpPr>
          <p:cNvPr id="4" name="Slide Number Placeholder 3"/>
          <p:cNvSpPr>
            <a:spLocks noGrp="1"/>
          </p:cNvSpPr>
          <p:nvPr>
            <p:ph type="sldNum" sz="quarter" idx="10"/>
          </p:nvPr>
        </p:nvSpPr>
        <p:spPr/>
        <p:txBody>
          <a:bodyPr/>
          <a:lstStyle/>
          <a:p>
            <a:fld id="{236095A6-6E6E-417A-B1D7-D679F854DAC1}" type="slidenum">
              <a:rPr lang="en-US" smtClean="0"/>
              <a:t>2</a:t>
            </a:fld>
            <a:endParaRPr lang="en-US"/>
          </a:p>
        </p:txBody>
      </p:sp>
    </p:spTree>
    <p:extLst>
      <p:ext uri="{BB962C8B-B14F-4D97-AF65-F5344CB8AC3E}">
        <p14:creationId xmlns:p14="http://schemas.microsoft.com/office/powerpoint/2010/main" val="2104620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“Artificial intelligence refers to systems that can learn from data, identify patterns, and make predictions or decisions. Unlike traditional systems, AI improves over time as it processes more information. In healthcare, this allows AI to support diagnosis, predict risks, and optimize operations.”</a:t>
            </a:r>
          </a:p>
          <a:p>
            <a:endParaRPr lang="en-US" dirty="0" smtClean="0"/>
          </a:p>
          <a:p>
            <a:endParaRPr lang="en-US" dirty="0" smtClean="0"/>
          </a:p>
          <a:p>
            <a:r>
              <a:rPr lang="en-US" dirty="0" smtClean="0"/>
              <a:t>This slide defines AI in simple terms and connects it directly to healthcare applications. It builds foundational understanding for the rest of the presentation.</a:t>
            </a:r>
            <a:br>
              <a:rPr lang="en-US" dirty="0" smtClean="0"/>
            </a:br>
            <a:r>
              <a:rPr lang="en-US" dirty="0" smtClean="0"/>
              <a:t>It ensures the audience clearly understands what AI is before applying it to real problems.</a:t>
            </a:r>
            <a:br>
              <a:rPr lang="en-US" dirty="0" smtClean="0"/>
            </a:br>
            <a:r>
              <a:rPr lang="en-US" dirty="0" smtClean="0"/>
              <a:t>This clarity is important to avoid confusion when discussing more advanced applications later.</a:t>
            </a:r>
          </a:p>
        </p:txBody>
      </p:sp>
      <p:sp>
        <p:nvSpPr>
          <p:cNvPr id="4" name="Slide Number Placeholder 3"/>
          <p:cNvSpPr>
            <a:spLocks noGrp="1"/>
          </p:cNvSpPr>
          <p:nvPr>
            <p:ph type="sldNum" sz="quarter" idx="10"/>
          </p:nvPr>
        </p:nvSpPr>
        <p:spPr/>
        <p:txBody>
          <a:bodyPr/>
          <a:lstStyle/>
          <a:p>
            <a:fld id="{236095A6-6E6E-417A-B1D7-D679F854DAC1}" type="slidenum">
              <a:rPr lang="en-US" smtClean="0"/>
              <a:t>3</a:t>
            </a:fld>
            <a:endParaRPr lang="en-US"/>
          </a:p>
        </p:txBody>
      </p:sp>
    </p:spTree>
    <p:extLst>
      <p:ext uri="{BB962C8B-B14F-4D97-AF65-F5344CB8AC3E}">
        <p14:creationId xmlns:p14="http://schemas.microsoft.com/office/powerpoint/2010/main" val="34143932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“One of the biggest issues in healthcare is delayed diagnosis, which can lead to worse outcomes. In addition, inefficient workflows slow down care delivery, and clinicians are often overwhelmed by administrative tasks. These problems highlight the need for smarter, more efficient systems.”</a:t>
            </a:r>
          </a:p>
          <a:p>
            <a:endParaRPr lang="en-US" dirty="0" smtClean="0"/>
          </a:p>
          <a:p>
            <a:endParaRPr lang="en-US" dirty="0" smtClean="0"/>
          </a:p>
          <a:p>
            <a:r>
              <a:rPr lang="en-US" dirty="0" smtClean="0"/>
              <a:t>This slide identifies the core problems AI will address. Organizations struggle to scale operations and manage complexity, which limits performance and efficiency (</a:t>
            </a:r>
            <a:r>
              <a:rPr lang="en-US" dirty="0" err="1" smtClean="0"/>
              <a:t>Tavakoli</a:t>
            </a:r>
            <a:r>
              <a:rPr lang="en-US" dirty="0" smtClean="0"/>
              <a:t> et al., 2024).</a:t>
            </a:r>
            <a:br>
              <a:rPr lang="en-US" dirty="0" smtClean="0"/>
            </a:br>
            <a:r>
              <a:rPr lang="en-US" dirty="0" smtClean="0"/>
              <a:t>It highlights why current systems are not keeping up with demand.</a:t>
            </a:r>
            <a:br>
              <a:rPr lang="en-US" dirty="0" smtClean="0"/>
            </a:br>
            <a:r>
              <a:rPr lang="en-US" dirty="0" smtClean="0"/>
              <a:t>These problems directly connect to the AI solutions introduced in later slides.</a:t>
            </a:r>
            <a:endParaRPr lang="en-US" dirty="0"/>
          </a:p>
        </p:txBody>
      </p:sp>
      <p:sp>
        <p:nvSpPr>
          <p:cNvPr id="4" name="Slide Number Placeholder 3"/>
          <p:cNvSpPr>
            <a:spLocks noGrp="1"/>
          </p:cNvSpPr>
          <p:nvPr>
            <p:ph type="sldNum" sz="quarter" idx="10"/>
          </p:nvPr>
        </p:nvSpPr>
        <p:spPr/>
        <p:txBody>
          <a:bodyPr/>
          <a:lstStyle/>
          <a:p>
            <a:fld id="{236095A6-6E6E-417A-B1D7-D679F854DAC1}" type="slidenum">
              <a:rPr lang="en-US" smtClean="0"/>
              <a:t>4</a:t>
            </a:fld>
            <a:endParaRPr lang="en-US"/>
          </a:p>
        </p:txBody>
      </p:sp>
    </p:spTree>
    <p:extLst>
      <p:ext uri="{BB962C8B-B14F-4D97-AF65-F5344CB8AC3E}">
        <p14:creationId xmlns:p14="http://schemas.microsoft.com/office/powerpoint/2010/main" val="12186223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“Image analysis uses AI to examine medical images such as X-rays or MRIs and detect patterns that may not be visible to the human eye. This can help identify diseases earlier and improve diagnostic accuracy. It allows clinicians to make faster and more informed decisions.”</a:t>
            </a:r>
          </a:p>
          <a:p>
            <a:endParaRPr lang="en-US" dirty="0" smtClean="0"/>
          </a:p>
          <a:p>
            <a:r>
              <a:rPr lang="en-US" dirty="0" smtClean="0"/>
              <a:t>This slide introduces image analysis as a key AI application in healthcare. It focuses on improving diagnosis and supporting clinical decisions.</a:t>
            </a:r>
            <a:br>
              <a:rPr lang="en-US" dirty="0" smtClean="0"/>
            </a:br>
            <a:r>
              <a:rPr lang="en-US" dirty="0" smtClean="0"/>
              <a:t>It establishes one of the most impactful uses of AI in medicine.</a:t>
            </a:r>
            <a:br>
              <a:rPr lang="en-US" dirty="0" smtClean="0"/>
            </a:br>
            <a:r>
              <a:rPr lang="en-US" dirty="0" smtClean="0"/>
              <a:t>The emphasis is on accuracy and early detection, which are critical in patient outcomes.</a:t>
            </a:r>
            <a:endParaRPr lang="en-US" dirty="0"/>
          </a:p>
        </p:txBody>
      </p:sp>
      <p:sp>
        <p:nvSpPr>
          <p:cNvPr id="4" name="Slide Number Placeholder 3"/>
          <p:cNvSpPr>
            <a:spLocks noGrp="1"/>
          </p:cNvSpPr>
          <p:nvPr>
            <p:ph type="sldNum" sz="quarter" idx="10"/>
          </p:nvPr>
        </p:nvSpPr>
        <p:spPr/>
        <p:txBody>
          <a:bodyPr/>
          <a:lstStyle/>
          <a:p>
            <a:fld id="{236095A6-6E6E-417A-B1D7-D679F854DAC1}" type="slidenum">
              <a:rPr lang="en-US" smtClean="0"/>
              <a:t>5</a:t>
            </a:fld>
            <a:endParaRPr lang="en-US"/>
          </a:p>
        </p:txBody>
      </p:sp>
    </p:spTree>
    <p:extLst>
      <p:ext uri="{BB962C8B-B14F-4D97-AF65-F5344CB8AC3E}">
        <p14:creationId xmlns:p14="http://schemas.microsoft.com/office/powerpoint/2010/main" val="3470595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“For example, an AI system could analyze a patient’s scan and detect early signs of disease before symptoms appear. The system alerts the clinician, allowing for earlier intervention and better outcomes. This reduces delays and improves patient care.”</a:t>
            </a:r>
          </a:p>
          <a:p>
            <a:endParaRPr lang="en-US" dirty="0" smtClean="0"/>
          </a:p>
          <a:p>
            <a:r>
              <a:rPr lang="en-US" dirty="0" smtClean="0"/>
              <a:t>This slide shows real-world impact of image analysis. AI is already being used to enhance medical imaging and improve early detection of disease (Zhang &amp; </a:t>
            </a:r>
            <a:r>
              <a:rPr lang="en-US" dirty="0" err="1" smtClean="0"/>
              <a:t>Boulos</a:t>
            </a:r>
            <a:r>
              <a:rPr lang="en-US" dirty="0" smtClean="0"/>
              <a:t>, 2023).</a:t>
            </a:r>
            <a:br>
              <a:rPr lang="en-US" dirty="0" smtClean="0"/>
            </a:br>
            <a:r>
              <a:rPr lang="en-US" dirty="0" smtClean="0"/>
              <a:t>It moves from theory to application, helping the audience visualize the benefit.</a:t>
            </a:r>
            <a:br>
              <a:rPr lang="en-US" dirty="0" smtClean="0"/>
            </a:br>
            <a:r>
              <a:rPr lang="en-US" dirty="0" smtClean="0"/>
              <a:t>This reinforces the idea that AI is already actively transforming healthcare.</a:t>
            </a:r>
          </a:p>
        </p:txBody>
      </p:sp>
      <p:sp>
        <p:nvSpPr>
          <p:cNvPr id="4" name="Slide Number Placeholder 3"/>
          <p:cNvSpPr>
            <a:spLocks noGrp="1"/>
          </p:cNvSpPr>
          <p:nvPr>
            <p:ph type="sldNum" sz="quarter" idx="10"/>
          </p:nvPr>
        </p:nvSpPr>
        <p:spPr/>
        <p:txBody>
          <a:bodyPr/>
          <a:lstStyle/>
          <a:p>
            <a:fld id="{236095A6-6E6E-417A-B1D7-D679F854DAC1}" type="slidenum">
              <a:rPr lang="en-US" smtClean="0"/>
              <a:t>6</a:t>
            </a:fld>
            <a:endParaRPr lang="en-US"/>
          </a:p>
        </p:txBody>
      </p:sp>
    </p:spTree>
    <p:extLst>
      <p:ext uri="{BB962C8B-B14F-4D97-AF65-F5344CB8AC3E}">
        <p14:creationId xmlns:p14="http://schemas.microsoft.com/office/powerpoint/2010/main" val="523334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“Predictive analytics uses patient data to identify patterns and predict future health risks. This allows healthcare providers to intervene earlier and focus on prevention rather than treatment. It shifts healthcare from reactive to proactive.”</a:t>
            </a:r>
          </a:p>
          <a:p>
            <a:endParaRPr lang="en-US" dirty="0" smtClean="0"/>
          </a:p>
          <a:p>
            <a:r>
              <a:rPr lang="en-US" dirty="0" smtClean="0"/>
              <a:t>This slide introduces predictive analytics and its role in improving long-term outcomes.</a:t>
            </a:r>
            <a:br>
              <a:rPr lang="en-US" dirty="0" smtClean="0"/>
            </a:br>
            <a:r>
              <a:rPr lang="en-US" dirty="0" smtClean="0"/>
              <a:t>It shifts the focus from diagnosis to prevention.</a:t>
            </a:r>
            <a:br>
              <a:rPr lang="en-US" dirty="0" smtClean="0"/>
            </a:br>
            <a:r>
              <a:rPr lang="en-US" dirty="0" smtClean="0"/>
              <a:t>This represents a major change in how healthcare operates, moving from reactive to proactive care.</a:t>
            </a:r>
          </a:p>
        </p:txBody>
      </p:sp>
      <p:sp>
        <p:nvSpPr>
          <p:cNvPr id="4" name="Slide Number Placeholder 3"/>
          <p:cNvSpPr>
            <a:spLocks noGrp="1"/>
          </p:cNvSpPr>
          <p:nvPr>
            <p:ph type="sldNum" sz="quarter" idx="10"/>
          </p:nvPr>
        </p:nvSpPr>
        <p:spPr/>
        <p:txBody>
          <a:bodyPr/>
          <a:lstStyle/>
          <a:p>
            <a:fld id="{236095A6-6E6E-417A-B1D7-D679F854DAC1}" type="slidenum">
              <a:rPr lang="en-US" smtClean="0"/>
              <a:t>7</a:t>
            </a:fld>
            <a:endParaRPr lang="en-US"/>
          </a:p>
        </p:txBody>
      </p:sp>
    </p:spTree>
    <p:extLst>
      <p:ext uri="{BB962C8B-B14F-4D97-AF65-F5344CB8AC3E}">
        <p14:creationId xmlns:p14="http://schemas.microsoft.com/office/powerpoint/2010/main" val="32301752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example, AI can analyze patient data to predict who is at risk of developing a condition. Doctors can then intervene early with treatment or lifestyle changes. This reduces hospital visits and improves overall patient health.”</a:t>
            </a:r>
          </a:p>
          <a:p>
            <a:endParaRPr lang="en-US" dirty="0" smtClean="0"/>
          </a:p>
          <a:p>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slide demonstrates how predictive analytics improves efficiency and outcomes. AI-driven insights enable better decision-making and resource allocation (Lynch, 2023).</a:t>
            </a:r>
            <a:br>
              <a:rPr lang="en-US" dirty="0" smtClean="0"/>
            </a:br>
            <a:r>
              <a:rPr lang="en-US" dirty="0" smtClean="0"/>
              <a:t>It shows how data can be used to anticipate problems before they occur.</a:t>
            </a:r>
            <a:br>
              <a:rPr lang="en-US" dirty="0" smtClean="0"/>
            </a:br>
            <a:r>
              <a:rPr lang="en-US" dirty="0" smtClean="0"/>
              <a:t>This also highlights cost savings and improved patient management.</a:t>
            </a:r>
          </a:p>
          <a:p>
            <a:endParaRPr lang="en-US" dirty="0" smtClean="0"/>
          </a:p>
        </p:txBody>
      </p:sp>
      <p:sp>
        <p:nvSpPr>
          <p:cNvPr id="4" name="Slide Number Placeholder 3"/>
          <p:cNvSpPr>
            <a:spLocks noGrp="1"/>
          </p:cNvSpPr>
          <p:nvPr>
            <p:ph type="sldNum" sz="quarter" idx="10"/>
          </p:nvPr>
        </p:nvSpPr>
        <p:spPr/>
        <p:txBody>
          <a:bodyPr/>
          <a:lstStyle/>
          <a:p>
            <a:fld id="{236095A6-6E6E-417A-B1D7-D679F854DAC1}" type="slidenum">
              <a:rPr lang="en-US" smtClean="0"/>
              <a:t>8</a:t>
            </a:fld>
            <a:endParaRPr lang="en-US"/>
          </a:p>
        </p:txBody>
      </p:sp>
    </p:spTree>
    <p:extLst>
      <p:ext uri="{BB962C8B-B14F-4D97-AF65-F5344CB8AC3E}">
        <p14:creationId xmlns:p14="http://schemas.microsoft.com/office/powerpoint/2010/main" val="985827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“Process optimization uses AI to streamline workflows and reduce inefficiencies. This can include scheduling, patient flow, and administrative tasks. By improving operations, healthcare providers can focus more on patient care.”</a:t>
            </a:r>
          </a:p>
          <a:p>
            <a:endParaRPr lang="en-US" dirty="0" smtClean="0"/>
          </a:p>
          <a:p>
            <a:endParaRPr lang="en-US" dirty="0" smtClean="0"/>
          </a:p>
          <a:p>
            <a:r>
              <a:rPr lang="en-US" dirty="0" smtClean="0"/>
              <a:t>This slide introduces operational improvements as a key benefit of AI.</a:t>
            </a:r>
            <a:br>
              <a:rPr lang="en-US" dirty="0" smtClean="0"/>
            </a:br>
            <a:r>
              <a:rPr lang="en-US" dirty="0" smtClean="0"/>
              <a:t>It focuses on efficiency rather than diagnosis or prediction.</a:t>
            </a:r>
            <a:br>
              <a:rPr lang="en-US" dirty="0" smtClean="0"/>
            </a:br>
            <a:r>
              <a:rPr lang="en-US" dirty="0" smtClean="0"/>
              <a:t>This is important because operational challenges are a major source of healthcare strain.</a:t>
            </a:r>
          </a:p>
        </p:txBody>
      </p:sp>
      <p:sp>
        <p:nvSpPr>
          <p:cNvPr id="4" name="Slide Number Placeholder 3"/>
          <p:cNvSpPr>
            <a:spLocks noGrp="1"/>
          </p:cNvSpPr>
          <p:nvPr>
            <p:ph type="sldNum" sz="quarter" idx="10"/>
          </p:nvPr>
        </p:nvSpPr>
        <p:spPr/>
        <p:txBody>
          <a:bodyPr/>
          <a:lstStyle/>
          <a:p>
            <a:fld id="{236095A6-6E6E-417A-B1D7-D679F854DAC1}" type="slidenum">
              <a:rPr lang="en-US" smtClean="0"/>
              <a:t>9</a:t>
            </a:fld>
            <a:endParaRPr lang="en-US"/>
          </a:p>
        </p:txBody>
      </p:sp>
    </p:spTree>
    <p:extLst>
      <p:ext uri="{BB962C8B-B14F-4D97-AF65-F5344CB8AC3E}">
        <p14:creationId xmlns:p14="http://schemas.microsoft.com/office/powerpoint/2010/main" val="2563630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example, AI can optimize scheduling to reduce wait times and improve patient flow. This allows hospitals to operate more efficiently and provide faster care. It also reduces stress on healthcare workers.”</a:t>
            </a:r>
          </a:p>
          <a:p>
            <a:endParaRPr lang="en-US" dirty="0" smtClean="0"/>
          </a:p>
          <a:p>
            <a:r>
              <a:rPr lang="en-US" dirty="0" smtClean="0"/>
              <a:t>This slide shows how AI improves operations. AI is transforming how organizations function by improving efficiency and reducing complexity (Bain &amp; Company, 2024).</a:t>
            </a:r>
            <a:br>
              <a:rPr lang="en-US" dirty="0" smtClean="0"/>
            </a:br>
            <a:r>
              <a:rPr lang="en-US" dirty="0" smtClean="0"/>
              <a:t>It highlights practical benefits like reduced wait times and better workflows.</a:t>
            </a:r>
            <a:br>
              <a:rPr lang="en-US" dirty="0" smtClean="0"/>
            </a:br>
            <a:r>
              <a:rPr lang="en-US" dirty="0" smtClean="0"/>
              <a:t>This connects directly to improving both patient and provider experiences.</a:t>
            </a:r>
            <a:endParaRPr lang="en-US" dirty="0"/>
          </a:p>
        </p:txBody>
      </p:sp>
      <p:sp>
        <p:nvSpPr>
          <p:cNvPr id="4" name="Slide Number Placeholder 3"/>
          <p:cNvSpPr>
            <a:spLocks noGrp="1"/>
          </p:cNvSpPr>
          <p:nvPr>
            <p:ph type="sldNum" sz="quarter" idx="10"/>
          </p:nvPr>
        </p:nvSpPr>
        <p:spPr/>
        <p:txBody>
          <a:bodyPr/>
          <a:lstStyle/>
          <a:p>
            <a:fld id="{236095A6-6E6E-417A-B1D7-D679F854DAC1}" type="slidenum">
              <a:rPr lang="en-US" smtClean="0"/>
              <a:t>10</a:t>
            </a:fld>
            <a:endParaRPr lang="en-US"/>
          </a:p>
        </p:txBody>
      </p:sp>
    </p:spTree>
    <p:extLst>
      <p:ext uri="{BB962C8B-B14F-4D97-AF65-F5344CB8AC3E}">
        <p14:creationId xmlns:p14="http://schemas.microsoft.com/office/powerpoint/2010/main" val="385587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“While AI offers many benefits, it also introduces risks. Wrong predictions can impact patient safety, bias can lead to unequal treatment, and privacy concerns arise from large data usage. These issues must be addressed to ensure safe and fair AI use.”</a:t>
            </a:r>
          </a:p>
          <a:p>
            <a:endParaRPr lang="en-US" dirty="0" smtClean="0"/>
          </a:p>
          <a:p>
            <a:endParaRPr lang="en-US" dirty="0" smtClean="0"/>
          </a:p>
          <a:p>
            <a:r>
              <a:rPr lang="en-US" dirty="0" smtClean="0"/>
              <a:t>This slide introduces ethical concerns tied to AI in healthcare.</a:t>
            </a:r>
            <a:br>
              <a:rPr lang="en-US" dirty="0" smtClean="0"/>
            </a:br>
            <a:r>
              <a:rPr lang="en-US" dirty="0" smtClean="0"/>
              <a:t>It acknowledges that AI is not risk-free and must be used carefully.</a:t>
            </a:r>
            <a:br>
              <a:rPr lang="en-US" dirty="0" smtClean="0"/>
            </a:br>
            <a:r>
              <a:rPr lang="en-US" dirty="0" smtClean="0"/>
              <a:t>This prepares the audience for the importance of responsible AI practices.</a:t>
            </a:r>
          </a:p>
        </p:txBody>
      </p:sp>
      <p:sp>
        <p:nvSpPr>
          <p:cNvPr id="4" name="Slide Number Placeholder 3"/>
          <p:cNvSpPr>
            <a:spLocks noGrp="1"/>
          </p:cNvSpPr>
          <p:nvPr>
            <p:ph type="sldNum" sz="quarter" idx="10"/>
          </p:nvPr>
        </p:nvSpPr>
        <p:spPr/>
        <p:txBody>
          <a:bodyPr/>
          <a:lstStyle/>
          <a:p>
            <a:fld id="{236095A6-6E6E-417A-B1D7-D679F854DAC1}" type="slidenum">
              <a:rPr lang="en-US" smtClean="0"/>
              <a:t>11</a:t>
            </a:fld>
            <a:endParaRPr lang="en-US"/>
          </a:p>
        </p:txBody>
      </p:sp>
    </p:spTree>
    <p:extLst>
      <p:ext uri="{BB962C8B-B14F-4D97-AF65-F5344CB8AC3E}">
        <p14:creationId xmlns:p14="http://schemas.microsoft.com/office/powerpoint/2010/main" val="15036295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address these risks, organizations must use human oversight, ensure diverse and representative data, and maintain transparency in AI decisions. Responsible AI ensures that technology improves outcomes without causing harm.”</a:t>
            </a:r>
          </a:p>
          <a:p>
            <a:endParaRPr lang="en-US" dirty="0" smtClean="0"/>
          </a:p>
          <a:p>
            <a:endParaRPr lang="en-US" dirty="0" smtClean="0"/>
          </a:p>
          <a:p>
            <a:r>
              <a:rPr lang="en-US" dirty="0" smtClean="0"/>
              <a:t>This slide explains how to manage ethical risks. Responsible AI requires governance, oversight, and continuous monitoring (NIST, </a:t>
            </a:r>
            <a:r>
              <a:rPr lang="en-US" dirty="0" err="1" smtClean="0"/>
              <a:t>n.d.</a:t>
            </a:r>
            <a:r>
              <a:rPr lang="en-US" dirty="0" smtClean="0"/>
              <a:t>).</a:t>
            </a:r>
            <a:br>
              <a:rPr lang="en-US" dirty="0" smtClean="0"/>
            </a:br>
            <a:r>
              <a:rPr lang="en-US" dirty="0" smtClean="0"/>
              <a:t>It emphasizes that solutions exist but must be actively implemented.</a:t>
            </a:r>
            <a:br>
              <a:rPr lang="en-US" dirty="0" smtClean="0"/>
            </a:br>
            <a:r>
              <a:rPr lang="en-US" dirty="0" smtClean="0"/>
              <a:t>This reinforces the need for balance between innovation and safety.</a:t>
            </a:r>
          </a:p>
        </p:txBody>
      </p:sp>
      <p:sp>
        <p:nvSpPr>
          <p:cNvPr id="4" name="Slide Number Placeholder 3"/>
          <p:cNvSpPr>
            <a:spLocks noGrp="1"/>
          </p:cNvSpPr>
          <p:nvPr>
            <p:ph type="sldNum" sz="quarter" idx="10"/>
          </p:nvPr>
        </p:nvSpPr>
        <p:spPr/>
        <p:txBody>
          <a:bodyPr/>
          <a:lstStyle/>
          <a:p>
            <a:fld id="{236095A6-6E6E-417A-B1D7-D679F854DAC1}" type="slidenum">
              <a:rPr lang="en-US" smtClean="0"/>
              <a:t>12</a:t>
            </a:fld>
            <a:endParaRPr lang="en-US"/>
          </a:p>
        </p:txBody>
      </p:sp>
    </p:spTree>
    <p:extLst>
      <p:ext uri="{BB962C8B-B14F-4D97-AF65-F5344CB8AC3E}">
        <p14:creationId xmlns:p14="http://schemas.microsoft.com/office/powerpoint/2010/main" val="9772420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next five years, AI will continue to transform healthcare by improving speed, accuracy, and efficiency. However, challenges such as trust, regulation, and over-reliance must be addressed. The future will depend on balancing innovation with responsible use.”</a:t>
            </a:r>
          </a:p>
          <a:p>
            <a:endParaRPr lang="en-US" dirty="0" smtClean="0"/>
          </a:p>
          <a:p>
            <a:endParaRPr lang="en-US" dirty="0" smtClean="0"/>
          </a:p>
          <a:p>
            <a:r>
              <a:rPr lang="en-US" dirty="0" smtClean="0"/>
              <a:t>This slide connects present trends to future impact. AI is expected to reshape industries while also introducing new risks that must be managed carefully (IMF, 2024).</a:t>
            </a:r>
            <a:br>
              <a:rPr lang="en-US" dirty="0" smtClean="0"/>
            </a:br>
            <a:r>
              <a:rPr lang="en-US" dirty="0" smtClean="0"/>
              <a:t>It provides a forward-looking perspective on healthcare transformation.</a:t>
            </a:r>
            <a:br>
              <a:rPr lang="en-US" dirty="0" smtClean="0"/>
            </a:br>
            <a:r>
              <a:rPr lang="en-US" dirty="0" smtClean="0"/>
              <a:t>This helps the audience understand both opportunity and uncertainty.</a:t>
            </a:r>
          </a:p>
        </p:txBody>
      </p:sp>
      <p:sp>
        <p:nvSpPr>
          <p:cNvPr id="4" name="Slide Number Placeholder 3"/>
          <p:cNvSpPr>
            <a:spLocks noGrp="1"/>
          </p:cNvSpPr>
          <p:nvPr>
            <p:ph type="sldNum" sz="quarter" idx="10"/>
          </p:nvPr>
        </p:nvSpPr>
        <p:spPr/>
        <p:txBody>
          <a:bodyPr/>
          <a:lstStyle/>
          <a:p>
            <a:fld id="{236095A6-6E6E-417A-B1D7-D679F854DAC1}" type="slidenum">
              <a:rPr lang="en-US" smtClean="0"/>
              <a:t>13</a:t>
            </a:fld>
            <a:endParaRPr lang="en-US"/>
          </a:p>
        </p:txBody>
      </p:sp>
    </p:spTree>
    <p:extLst>
      <p:ext uri="{BB962C8B-B14F-4D97-AF65-F5344CB8AC3E}">
        <p14:creationId xmlns:p14="http://schemas.microsoft.com/office/powerpoint/2010/main" val="6243791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“AI is not replacing healthcare professionals, but transforming how they work. By improving diagnosis, optimizing processes, and supporting decisions, AI has the potential to significantly improve patient care. The key is using it responsibly.”</a:t>
            </a:r>
          </a:p>
          <a:p>
            <a:endParaRPr lang="en-US" dirty="0" smtClean="0"/>
          </a:p>
          <a:p>
            <a:endParaRPr lang="en-US" dirty="0" smtClean="0"/>
          </a:p>
          <a:p>
            <a:r>
              <a:rPr lang="en-US" dirty="0" smtClean="0"/>
              <a:t>This slide reinforces the core message and ties everything together.</a:t>
            </a:r>
            <a:br>
              <a:rPr lang="en-US" dirty="0" smtClean="0"/>
            </a:br>
            <a:r>
              <a:rPr lang="en-US" dirty="0" smtClean="0"/>
              <a:t>It emphasizes that AI is a support system, not a replacement for human professionals.</a:t>
            </a:r>
            <a:br>
              <a:rPr lang="en-US" dirty="0" smtClean="0"/>
            </a:br>
            <a:r>
              <a:rPr lang="en-US" dirty="0" smtClean="0"/>
              <a:t>The goal is to leave the audience with a clear and memorable takeaway.</a:t>
            </a:r>
          </a:p>
        </p:txBody>
      </p:sp>
      <p:sp>
        <p:nvSpPr>
          <p:cNvPr id="4" name="Slide Number Placeholder 3"/>
          <p:cNvSpPr>
            <a:spLocks noGrp="1"/>
          </p:cNvSpPr>
          <p:nvPr>
            <p:ph type="sldNum" sz="quarter" idx="10"/>
          </p:nvPr>
        </p:nvSpPr>
        <p:spPr/>
        <p:txBody>
          <a:bodyPr/>
          <a:lstStyle/>
          <a:p>
            <a:fld id="{236095A6-6E6E-417A-B1D7-D679F854DAC1}" type="slidenum">
              <a:rPr lang="en-US" smtClean="0"/>
              <a:t>14</a:t>
            </a:fld>
            <a:endParaRPr lang="en-US"/>
          </a:p>
        </p:txBody>
      </p:sp>
    </p:spTree>
    <p:extLst>
      <p:ext uri="{BB962C8B-B14F-4D97-AF65-F5344CB8AC3E}">
        <p14:creationId xmlns:p14="http://schemas.microsoft.com/office/powerpoint/2010/main" val="3481859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2A87583-5FAD-4749-BE56-178958518D33}"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516101-DD89-4A96-A3AE-6D2F8942A8CF}" type="slidenum">
              <a:rPr lang="en-US" smtClean="0"/>
              <a:t>‹#›</a:t>
            </a:fld>
            <a:endParaRPr lang="en-US"/>
          </a:p>
        </p:txBody>
      </p:sp>
    </p:spTree>
    <p:extLst>
      <p:ext uri="{BB962C8B-B14F-4D97-AF65-F5344CB8AC3E}">
        <p14:creationId xmlns:p14="http://schemas.microsoft.com/office/powerpoint/2010/main" val="1530181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A2A87583-5FAD-4749-BE56-178958518D33}"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516101-DD89-4A96-A3AE-6D2F8942A8CF}" type="slidenum">
              <a:rPr lang="en-US" smtClean="0"/>
              <a:t>‹#›</a:t>
            </a:fld>
            <a:endParaRPr lang="en-US"/>
          </a:p>
        </p:txBody>
      </p:sp>
    </p:spTree>
    <p:extLst>
      <p:ext uri="{BB962C8B-B14F-4D97-AF65-F5344CB8AC3E}">
        <p14:creationId xmlns:p14="http://schemas.microsoft.com/office/powerpoint/2010/main" val="2503761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2A87583-5FAD-4749-BE56-178958518D33}"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516101-DD89-4A96-A3AE-6D2F8942A8CF}" type="slidenum">
              <a:rPr lang="en-US" smtClean="0"/>
              <a:t>‹#›</a:t>
            </a:fld>
            <a:endParaRPr lang="en-US"/>
          </a:p>
        </p:txBody>
      </p:sp>
    </p:spTree>
    <p:extLst>
      <p:ext uri="{BB962C8B-B14F-4D97-AF65-F5344CB8AC3E}">
        <p14:creationId xmlns:p14="http://schemas.microsoft.com/office/powerpoint/2010/main" val="3278168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2A87583-5FAD-4749-BE56-178958518D33}"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516101-DD89-4A96-A3AE-6D2F8942A8CF}" type="slidenum">
              <a:rPr lang="en-US" smtClean="0"/>
              <a:t>‹#›</a:t>
            </a:fld>
            <a:endParaRPr lang="en-US"/>
          </a:p>
        </p:txBody>
      </p:sp>
    </p:spTree>
    <p:extLst>
      <p:ext uri="{BB962C8B-B14F-4D97-AF65-F5344CB8AC3E}">
        <p14:creationId xmlns:p14="http://schemas.microsoft.com/office/powerpoint/2010/main" val="1521744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2A87583-5FAD-4749-BE56-178958518D33}" type="datetimeFigureOut">
              <a:rPr lang="en-US" smtClean="0"/>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6516101-DD89-4A96-A3AE-6D2F8942A8CF}" type="slidenum">
              <a:rPr lang="en-US" smtClean="0"/>
              <a:t>‹#›</a:t>
            </a:fld>
            <a:endParaRPr lang="en-US"/>
          </a:p>
        </p:txBody>
      </p:sp>
    </p:spTree>
    <p:extLst>
      <p:ext uri="{BB962C8B-B14F-4D97-AF65-F5344CB8AC3E}">
        <p14:creationId xmlns:p14="http://schemas.microsoft.com/office/powerpoint/2010/main" val="132150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A2A87583-5FAD-4749-BE56-178958518D33}" type="datetimeFigureOut">
              <a:rPr lang="en-US" smtClean="0"/>
              <a:t>6/19/2026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46516101-DD89-4A96-A3AE-6D2F8942A8CF}" type="slidenum">
              <a:rPr lang="en-US" smtClean="0"/>
              <a:t>‹#›</a:t>
            </a:fld>
            <a:endParaRPr lang="en-US"/>
          </a:p>
        </p:txBody>
      </p:sp>
    </p:spTree>
    <p:extLst>
      <p:ext uri="{BB962C8B-B14F-4D97-AF65-F5344CB8AC3E}">
        <p14:creationId xmlns:p14="http://schemas.microsoft.com/office/powerpoint/2010/main" val="909195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2A87583-5FAD-4749-BE56-178958518D33}" type="datetimeFigureOut">
              <a:rPr lang="en-US" smtClean="0"/>
              <a:t>6/19/2026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46516101-DD89-4A96-A3AE-6D2F8942A8CF}" type="slidenum">
              <a:rPr lang="en-US" smtClean="0"/>
              <a:t>‹#›</a:t>
            </a:fld>
            <a:endParaRPr lang="en-US"/>
          </a:p>
        </p:txBody>
      </p:sp>
    </p:spTree>
    <p:extLst>
      <p:ext uri="{BB962C8B-B14F-4D97-AF65-F5344CB8AC3E}">
        <p14:creationId xmlns:p14="http://schemas.microsoft.com/office/powerpoint/2010/main" val="3558044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A2A87583-5FAD-4749-BE56-178958518D33}" type="datetimeFigureOut">
              <a:rPr lang="en-US" smtClean="0"/>
              <a:t>6/19/2026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46516101-DD89-4A96-A3AE-6D2F8942A8CF}" type="slidenum">
              <a:rPr lang="en-US" smtClean="0"/>
              <a:t>‹#›</a:t>
            </a:fld>
            <a:endParaRPr lang="en-US"/>
          </a:p>
        </p:txBody>
      </p:sp>
    </p:spTree>
    <p:extLst>
      <p:ext uri="{BB962C8B-B14F-4D97-AF65-F5344CB8AC3E}">
        <p14:creationId xmlns:p14="http://schemas.microsoft.com/office/powerpoint/2010/main" val="483456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2A87583-5FAD-4749-BE56-178958518D33}"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516101-DD89-4A96-A3AE-6D2F8942A8CF}" type="slidenum">
              <a:rPr lang="en-US" smtClean="0"/>
              <a:t>‹#›</a:t>
            </a:fld>
            <a:endParaRPr lang="en-US"/>
          </a:p>
        </p:txBody>
      </p:sp>
    </p:spTree>
    <p:extLst>
      <p:ext uri="{BB962C8B-B14F-4D97-AF65-F5344CB8AC3E}">
        <p14:creationId xmlns:p14="http://schemas.microsoft.com/office/powerpoint/2010/main" val="2540485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2A87583-5FAD-4749-BE56-178958518D33}"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516101-DD89-4A96-A3AE-6D2F8942A8CF}" type="slidenum">
              <a:rPr lang="en-US" smtClean="0"/>
              <a:t>‹#›</a:t>
            </a:fld>
            <a:endParaRPr lang="en-US"/>
          </a:p>
        </p:txBody>
      </p:sp>
    </p:spTree>
    <p:extLst>
      <p:ext uri="{BB962C8B-B14F-4D97-AF65-F5344CB8AC3E}">
        <p14:creationId xmlns:p14="http://schemas.microsoft.com/office/powerpoint/2010/main" val="839559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2A87583-5FAD-4749-BE56-178958518D33}"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516101-DD89-4A96-A3AE-6D2F8942A8CF}" type="slidenum">
              <a:rPr lang="en-US" smtClean="0"/>
              <a:t>‹#›</a:t>
            </a:fld>
            <a:endParaRPr lang="en-US"/>
          </a:p>
        </p:txBody>
      </p:sp>
    </p:spTree>
    <p:extLst>
      <p:ext uri="{BB962C8B-B14F-4D97-AF65-F5344CB8AC3E}">
        <p14:creationId xmlns:p14="http://schemas.microsoft.com/office/powerpoint/2010/main" val="38772247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2A87583-5FAD-4749-BE56-178958518D33}"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516101-DD89-4A96-A3AE-6D2F8942A8CF}"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6581388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2A87583-5FAD-4749-BE56-178958518D33}"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516101-DD89-4A96-A3AE-6D2F8942A8CF}" type="slidenum">
              <a:rPr lang="en-US" smtClean="0"/>
              <a:t>‹#›</a:t>
            </a:fld>
            <a:endParaRPr lang="en-US"/>
          </a:p>
        </p:txBody>
      </p:sp>
    </p:spTree>
    <p:extLst>
      <p:ext uri="{BB962C8B-B14F-4D97-AF65-F5344CB8AC3E}">
        <p14:creationId xmlns:p14="http://schemas.microsoft.com/office/powerpoint/2010/main" val="38682523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2A87583-5FAD-4749-BE56-178958518D33}" type="datetimeFigureOut">
              <a:rPr lang="en-US" smtClean="0"/>
              <a:t>6/19/2026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516101-DD89-4A96-A3AE-6D2F8942A8CF}" type="slidenum">
              <a:rPr lang="en-US" smtClean="0"/>
              <a:t>‹#›</a:t>
            </a:fld>
            <a:endParaRPr lang="en-US"/>
          </a:p>
        </p:txBody>
      </p:sp>
    </p:spTree>
    <p:extLst>
      <p:ext uri="{BB962C8B-B14F-4D97-AF65-F5344CB8AC3E}">
        <p14:creationId xmlns:p14="http://schemas.microsoft.com/office/powerpoint/2010/main" val="20941996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2A87583-5FAD-4749-BE56-178958518D33}" type="datetimeFigureOut">
              <a:rPr lang="en-US" smtClean="0"/>
              <a:t>6/19/2026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516101-DD89-4A96-A3AE-6D2F8942A8CF}" type="slidenum">
              <a:rPr lang="en-US" smtClean="0"/>
              <a:t>‹#›</a:t>
            </a:fld>
            <a:endParaRPr lang="en-US"/>
          </a:p>
        </p:txBody>
      </p:sp>
    </p:spTree>
    <p:extLst>
      <p:ext uri="{BB962C8B-B14F-4D97-AF65-F5344CB8AC3E}">
        <p14:creationId xmlns:p14="http://schemas.microsoft.com/office/powerpoint/2010/main" val="19453479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2A87583-5FAD-4749-BE56-178958518D33}"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516101-DD89-4A96-A3AE-6D2F8942A8CF}" type="slidenum">
              <a:rPr lang="en-US" smtClean="0"/>
              <a:t>‹#›</a:t>
            </a:fld>
            <a:endParaRPr lang="en-US"/>
          </a:p>
        </p:txBody>
      </p:sp>
    </p:spTree>
    <p:extLst>
      <p:ext uri="{BB962C8B-B14F-4D97-AF65-F5344CB8AC3E}">
        <p14:creationId xmlns:p14="http://schemas.microsoft.com/office/powerpoint/2010/main" val="8500913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2A87583-5FAD-4749-BE56-178958518D33}"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516101-DD89-4A96-A3AE-6D2F8942A8CF}" type="slidenum">
              <a:rPr lang="en-US" smtClean="0"/>
              <a:t>‹#›</a:t>
            </a:fld>
            <a:endParaRPr lang="en-US"/>
          </a:p>
        </p:txBody>
      </p:sp>
    </p:spTree>
    <p:extLst>
      <p:ext uri="{BB962C8B-B14F-4D97-AF65-F5344CB8AC3E}">
        <p14:creationId xmlns:p14="http://schemas.microsoft.com/office/powerpoint/2010/main" val="1709867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2A87583-5FAD-4749-BE56-178958518D33}" type="datetimeFigureOut">
              <a:rPr lang="en-US" smtClean="0"/>
              <a:t>6/19/2026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6516101-DD89-4A96-A3AE-6D2F8942A8CF}" type="slidenum">
              <a:rPr lang="en-US" smtClean="0"/>
              <a:t>‹#›</a:t>
            </a:fld>
            <a:endParaRPr lang="en-US"/>
          </a:p>
        </p:txBody>
      </p:sp>
    </p:spTree>
    <p:extLst>
      <p:ext uri="{BB962C8B-B14F-4D97-AF65-F5344CB8AC3E}">
        <p14:creationId xmlns:p14="http://schemas.microsoft.com/office/powerpoint/2010/main" val="142903089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doi.org/10.3390/fi15090286" TargetMode="External"/><Relationship Id="rId7" Type="http://schemas.openxmlformats.org/officeDocument/2006/relationships/hyperlink" Target="https://www.imf.org/external/pubs/ft/ar/2024/in-focus/high-uncertainty-and-the-unknown/" TargetMode="External"/><Relationship Id="rId2" Type="http://schemas.openxmlformats.org/officeDocument/2006/relationships/hyperlink" Target="https://www.mckinsey.com/capabilities/mckinsey-digital/our-insights/charting-a-path-to-the-data-and-ai-driven-enterprise-of-2030" TargetMode="External"/><Relationship Id="rId1" Type="http://schemas.openxmlformats.org/officeDocument/2006/relationships/slideLayout" Target="../slideLayouts/slideLayout2.xml"/><Relationship Id="rId6" Type="http://schemas.openxmlformats.org/officeDocument/2006/relationships/hyperlink" Target="https://www.nist.gov/artificial-intelligence" TargetMode="External"/><Relationship Id="rId5" Type="http://schemas.openxmlformats.org/officeDocument/2006/relationships/hyperlink" Target="https://www.bain.com/insights/five-ways-ai-is-changing-how-we-work-and-live-interactive/" TargetMode="External"/><Relationship Id="rId4" Type="http://schemas.openxmlformats.org/officeDocument/2006/relationships/hyperlink" Target="https://hai.stanford.edu/news/what-expect-ai-202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5618"/>
            <a:ext cx="9144000" cy="2387600"/>
          </a:xfrm>
        </p:spPr>
        <p:txBody>
          <a:bodyPr>
            <a:normAutofit fontScale="90000"/>
          </a:bodyPr>
          <a:lstStyle/>
          <a:p>
            <a:r>
              <a:rPr lang="en-US" sz="7200" b="1" dirty="0" smtClean="0"/>
              <a:t>AI in Healthcare: From Diagnosis to Decision</a:t>
            </a:r>
            <a:endParaRPr lang="en-US" sz="7200" b="1" dirty="0"/>
          </a:p>
        </p:txBody>
      </p:sp>
      <p:sp>
        <p:nvSpPr>
          <p:cNvPr id="3" name="Subtitle 2"/>
          <p:cNvSpPr>
            <a:spLocks noGrp="1"/>
          </p:cNvSpPr>
          <p:nvPr>
            <p:ph type="subTitle" idx="1"/>
          </p:nvPr>
        </p:nvSpPr>
        <p:spPr>
          <a:xfrm>
            <a:off x="1524000" y="2698029"/>
            <a:ext cx="9144000" cy="2393515"/>
          </a:xfrm>
        </p:spPr>
        <p:txBody>
          <a:bodyPr>
            <a:normAutofit fontScale="92500" lnSpcReduction="10000"/>
          </a:bodyPr>
          <a:lstStyle/>
          <a:p>
            <a:endParaRPr lang="en-US" dirty="0"/>
          </a:p>
          <a:p>
            <a:r>
              <a:rPr lang="en-US" dirty="0" smtClean="0"/>
              <a:t>Transforming the Future of Patient Care</a:t>
            </a:r>
          </a:p>
          <a:p>
            <a:endParaRPr lang="en-US" dirty="0"/>
          </a:p>
          <a:p>
            <a:r>
              <a:rPr lang="en-US" sz="2000" dirty="0" smtClean="0"/>
              <a:t>By Matthew Kolonich</a:t>
            </a:r>
          </a:p>
          <a:p>
            <a:r>
              <a:rPr lang="en-US" sz="2000" dirty="0" smtClean="0"/>
              <a:t>Arin 410</a:t>
            </a:r>
          </a:p>
          <a:p>
            <a:r>
              <a:rPr lang="en-US" sz="2000" dirty="0" smtClean="0"/>
              <a:t>Professor </a:t>
            </a:r>
            <a:r>
              <a:rPr lang="en-US" sz="2000" dirty="0" err="1" smtClean="0"/>
              <a:t>Caramancion</a:t>
            </a:r>
            <a:endParaRPr lang="en-US" sz="2000" dirty="0" smtClean="0"/>
          </a:p>
        </p:txBody>
      </p:sp>
      <p:pic>
        <p:nvPicPr>
          <p:cNvPr id="4" name="Picture 3"/>
          <p:cNvPicPr>
            <a:picLocks noChangeAspect="1"/>
          </p:cNvPicPr>
          <p:nvPr/>
        </p:nvPicPr>
        <p:blipFill>
          <a:blip r:embed="rId3"/>
          <a:stretch>
            <a:fillRect/>
          </a:stretch>
        </p:blipFill>
        <p:spPr>
          <a:xfrm>
            <a:off x="8295841" y="4707083"/>
            <a:ext cx="3896159" cy="2150917"/>
          </a:xfrm>
          <a:prstGeom prst="rect">
            <a:avLst/>
          </a:prstGeom>
        </p:spPr>
      </p:pic>
    </p:spTree>
    <p:extLst>
      <p:ext uri="{BB962C8B-B14F-4D97-AF65-F5344CB8AC3E}">
        <p14:creationId xmlns:p14="http://schemas.microsoft.com/office/powerpoint/2010/main" val="2698008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smtClean="0"/>
              <a:t>INDUSTRY OVERVIEW</a:t>
            </a:r>
            <a:endParaRPr lang="en-US" sz="6000" b="1" dirty="0"/>
          </a:p>
        </p:txBody>
      </p:sp>
      <p:sp>
        <p:nvSpPr>
          <p:cNvPr id="3" name="Content Placeholder 2"/>
          <p:cNvSpPr>
            <a:spLocks noGrp="1"/>
          </p:cNvSpPr>
          <p:nvPr>
            <p:ph idx="1"/>
          </p:nvPr>
        </p:nvSpPr>
        <p:spPr/>
        <p:txBody>
          <a:bodyPr>
            <a:normAutofit fontScale="92500" lnSpcReduction="10000"/>
          </a:bodyPr>
          <a:lstStyle/>
          <a:p>
            <a:pPr marL="0" indent="0" algn="ctr">
              <a:buNone/>
            </a:pPr>
            <a:endParaRPr lang="en-US" sz="4800" dirty="0" smtClean="0"/>
          </a:p>
          <a:p>
            <a:pPr marL="0" indent="0" algn="ctr">
              <a:buNone/>
            </a:pPr>
            <a:r>
              <a:rPr lang="en-US" sz="4800" dirty="0" smtClean="0"/>
              <a:t>Healthcare Industry Today</a:t>
            </a:r>
          </a:p>
          <a:p>
            <a:pPr algn="ctr"/>
            <a:endParaRPr lang="en-US" sz="4400" dirty="0" smtClean="0"/>
          </a:p>
          <a:p>
            <a:pPr algn="ctr"/>
            <a:r>
              <a:rPr lang="en-US" sz="3600" dirty="0" smtClean="0"/>
              <a:t>Complex and data-driven </a:t>
            </a:r>
          </a:p>
          <a:p>
            <a:pPr algn="ctr"/>
            <a:r>
              <a:rPr lang="en-US" sz="3600" dirty="0" smtClean="0"/>
              <a:t>High demand for services </a:t>
            </a:r>
          </a:p>
          <a:p>
            <a:pPr algn="ctr"/>
            <a:r>
              <a:rPr lang="en-US" sz="3600" dirty="0" smtClean="0"/>
              <a:t>Resource and staffing challenges </a:t>
            </a:r>
          </a:p>
          <a:p>
            <a:pPr algn="ctr"/>
            <a:endParaRPr lang="en-US" sz="3600" dirty="0"/>
          </a:p>
        </p:txBody>
      </p:sp>
      <p:pic>
        <p:nvPicPr>
          <p:cNvPr id="4" name="Picture 3"/>
          <p:cNvPicPr>
            <a:picLocks noChangeAspect="1"/>
          </p:cNvPicPr>
          <p:nvPr/>
        </p:nvPicPr>
        <p:blipFill>
          <a:blip r:embed="rId3"/>
          <a:stretch>
            <a:fillRect/>
          </a:stretch>
        </p:blipFill>
        <p:spPr>
          <a:xfrm>
            <a:off x="0" y="2052918"/>
            <a:ext cx="1856454" cy="3071990"/>
          </a:xfrm>
          <a:prstGeom prst="rect">
            <a:avLst/>
          </a:prstGeom>
        </p:spPr>
      </p:pic>
      <p:pic>
        <p:nvPicPr>
          <p:cNvPr id="5" name="Picture 4"/>
          <p:cNvPicPr>
            <a:picLocks noChangeAspect="1"/>
          </p:cNvPicPr>
          <p:nvPr/>
        </p:nvPicPr>
        <p:blipFill>
          <a:blip r:embed="rId4"/>
          <a:stretch>
            <a:fillRect/>
          </a:stretch>
        </p:blipFill>
        <p:spPr>
          <a:xfrm>
            <a:off x="9633397" y="1853248"/>
            <a:ext cx="2339662" cy="3284980"/>
          </a:xfrm>
          <a:prstGeom prst="rect">
            <a:avLst/>
          </a:prstGeom>
        </p:spPr>
      </p:pic>
    </p:spTree>
    <p:extLst>
      <p:ext uri="{BB962C8B-B14F-4D97-AF65-F5344CB8AC3E}">
        <p14:creationId xmlns:p14="http://schemas.microsoft.com/office/powerpoint/2010/main" val="1256607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smtClean="0"/>
              <a:t>WHAT IS AI?</a:t>
            </a:r>
            <a:endParaRPr lang="en-US" sz="6000" b="1" dirty="0"/>
          </a:p>
        </p:txBody>
      </p:sp>
      <p:sp>
        <p:nvSpPr>
          <p:cNvPr id="3" name="Content Placeholder 2"/>
          <p:cNvSpPr>
            <a:spLocks noGrp="1"/>
          </p:cNvSpPr>
          <p:nvPr>
            <p:ph idx="1"/>
          </p:nvPr>
        </p:nvSpPr>
        <p:spPr/>
        <p:txBody>
          <a:bodyPr>
            <a:normAutofit fontScale="92500" lnSpcReduction="10000"/>
          </a:bodyPr>
          <a:lstStyle/>
          <a:p>
            <a:pPr marL="0" indent="0" algn="ctr">
              <a:buNone/>
            </a:pPr>
            <a:endParaRPr lang="en-US" sz="4800" dirty="0" smtClean="0"/>
          </a:p>
          <a:p>
            <a:pPr marL="0" indent="0" algn="ctr">
              <a:buNone/>
            </a:pPr>
            <a:r>
              <a:rPr lang="en-US" sz="5200" dirty="0" smtClean="0"/>
              <a:t>Artificial Intelligence</a:t>
            </a:r>
          </a:p>
          <a:p>
            <a:pPr marL="0" indent="0" algn="ctr">
              <a:buNone/>
            </a:pPr>
            <a:endParaRPr lang="en-US" sz="3600" dirty="0" smtClean="0"/>
          </a:p>
          <a:p>
            <a:pPr algn="ctr"/>
            <a:r>
              <a:rPr lang="en-US" sz="3900" dirty="0" smtClean="0"/>
              <a:t>Learns patterns from data </a:t>
            </a:r>
          </a:p>
          <a:p>
            <a:pPr algn="ctr"/>
            <a:r>
              <a:rPr lang="en-US" sz="3900" dirty="0" smtClean="0"/>
              <a:t>Makes predictions and decisions </a:t>
            </a:r>
          </a:p>
          <a:p>
            <a:pPr algn="ctr"/>
            <a:r>
              <a:rPr lang="en-US" sz="3900" dirty="0" smtClean="0"/>
              <a:t>Improves over time</a:t>
            </a:r>
          </a:p>
          <a:p>
            <a:pPr algn="ctr"/>
            <a:endParaRPr lang="en-US" dirty="0"/>
          </a:p>
        </p:txBody>
      </p:sp>
      <p:pic>
        <p:nvPicPr>
          <p:cNvPr id="4" name="Picture 3"/>
          <p:cNvPicPr>
            <a:picLocks noChangeAspect="1"/>
          </p:cNvPicPr>
          <p:nvPr/>
        </p:nvPicPr>
        <p:blipFill>
          <a:blip r:embed="rId3"/>
          <a:stretch>
            <a:fillRect/>
          </a:stretch>
        </p:blipFill>
        <p:spPr>
          <a:xfrm>
            <a:off x="8750188" y="1663332"/>
            <a:ext cx="3257550" cy="2228850"/>
          </a:xfrm>
          <a:prstGeom prst="rect">
            <a:avLst/>
          </a:prstGeom>
        </p:spPr>
      </p:pic>
    </p:spTree>
    <p:extLst>
      <p:ext uri="{BB962C8B-B14F-4D97-AF65-F5344CB8AC3E}">
        <p14:creationId xmlns:p14="http://schemas.microsoft.com/office/powerpoint/2010/main" val="1590236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600" b="1" dirty="0" smtClean="0"/>
              <a:t>KEY PROBLEMS IN HEALTHCARE</a:t>
            </a:r>
            <a:endParaRPr lang="en-US" sz="6600" b="1" dirty="0"/>
          </a:p>
        </p:txBody>
      </p:sp>
      <p:sp>
        <p:nvSpPr>
          <p:cNvPr id="3" name="Content Placeholder 2"/>
          <p:cNvSpPr>
            <a:spLocks noGrp="1"/>
          </p:cNvSpPr>
          <p:nvPr>
            <p:ph idx="1"/>
          </p:nvPr>
        </p:nvSpPr>
        <p:spPr/>
        <p:txBody>
          <a:bodyPr/>
          <a:lstStyle/>
          <a:p>
            <a:pPr marL="0" indent="0" algn="ctr">
              <a:buNone/>
            </a:pPr>
            <a:r>
              <a:rPr lang="en-US" sz="4800" dirty="0" smtClean="0"/>
              <a:t>Major Challenges</a:t>
            </a:r>
          </a:p>
          <a:p>
            <a:pPr marL="0" indent="0" algn="ctr">
              <a:buNone/>
            </a:pPr>
            <a:endParaRPr lang="en-US" dirty="0" smtClean="0"/>
          </a:p>
          <a:p>
            <a:pPr algn="ctr"/>
            <a:r>
              <a:rPr lang="en-US" sz="3600" dirty="0" smtClean="0"/>
              <a:t>Delayed diagnosis </a:t>
            </a:r>
          </a:p>
          <a:p>
            <a:pPr algn="ctr"/>
            <a:r>
              <a:rPr lang="en-US" sz="3600" dirty="0" smtClean="0"/>
              <a:t>Inefficient workflows </a:t>
            </a:r>
          </a:p>
          <a:p>
            <a:pPr algn="ctr"/>
            <a:r>
              <a:rPr lang="en-US" sz="3600" dirty="0" smtClean="0"/>
              <a:t>Clinician burnout</a:t>
            </a:r>
          </a:p>
          <a:p>
            <a:pPr marL="0" indent="0" algn="ctr">
              <a:buNone/>
            </a:pPr>
            <a:endParaRPr lang="en-US" dirty="0"/>
          </a:p>
        </p:txBody>
      </p:sp>
      <p:pic>
        <p:nvPicPr>
          <p:cNvPr id="4" name="Picture 3"/>
          <p:cNvPicPr>
            <a:picLocks noChangeAspect="1"/>
          </p:cNvPicPr>
          <p:nvPr/>
        </p:nvPicPr>
        <p:blipFill>
          <a:blip r:embed="rId3"/>
          <a:stretch>
            <a:fillRect/>
          </a:stretch>
        </p:blipFill>
        <p:spPr>
          <a:xfrm>
            <a:off x="0" y="4286249"/>
            <a:ext cx="3142445" cy="2397886"/>
          </a:xfrm>
          <a:prstGeom prst="rect">
            <a:avLst/>
          </a:prstGeom>
        </p:spPr>
      </p:pic>
      <p:pic>
        <p:nvPicPr>
          <p:cNvPr id="5" name="Picture 4"/>
          <p:cNvPicPr>
            <a:picLocks noChangeAspect="1"/>
          </p:cNvPicPr>
          <p:nvPr/>
        </p:nvPicPr>
        <p:blipFill>
          <a:blip r:embed="rId4"/>
          <a:stretch>
            <a:fillRect/>
          </a:stretch>
        </p:blipFill>
        <p:spPr>
          <a:xfrm>
            <a:off x="8190964" y="4005330"/>
            <a:ext cx="3796250" cy="2481193"/>
          </a:xfrm>
          <a:prstGeom prst="rect">
            <a:avLst/>
          </a:prstGeom>
        </p:spPr>
      </p:pic>
    </p:spTree>
    <p:extLst>
      <p:ext uri="{BB962C8B-B14F-4D97-AF65-F5344CB8AC3E}">
        <p14:creationId xmlns:p14="http://schemas.microsoft.com/office/powerpoint/2010/main" val="1534089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fr-FR" sz="6600" b="1" dirty="0" smtClean="0"/>
              <a:t>AI SOLUTION 1: IMAGE ANALYSIS</a:t>
            </a:r>
            <a:endParaRPr lang="en-US" sz="6600" b="1" dirty="0"/>
          </a:p>
        </p:txBody>
      </p:sp>
      <p:sp>
        <p:nvSpPr>
          <p:cNvPr id="3" name="Content Placeholder 2"/>
          <p:cNvSpPr>
            <a:spLocks noGrp="1"/>
          </p:cNvSpPr>
          <p:nvPr>
            <p:ph idx="1"/>
          </p:nvPr>
        </p:nvSpPr>
        <p:spPr/>
        <p:txBody>
          <a:bodyPr/>
          <a:lstStyle/>
          <a:p>
            <a:pPr marL="0" indent="0" algn="ctr">
              <a:buNone/>
            </a:pPr>
            <a:r>
              <a:rPr lang="en-US" sz="4400" dirty="0" smtClean="0"/>
              <a:t>Image Analysis</a:t>
            </a:r>
          </a:p>
          <a:p>
            <a:pPr algn="ctr"/>
            <a:endParaRPr lang="en-US" dirty="0" smtClean="0"/>
          </a:p>
          <a:p>
            <a:pPr algn="ctr"/>
            <a:r>
              <a:rPr lang="en-US" sz="3600" dirty="0" smtClean="0"/>
              <a:t>Analyzes medical images </a:t>
            </a:r>
          </a:p>
          <a:p>
            <a:pPr algn="ctr"/>
            <a:r>
              <a:rPr lang="en-US" sz="3600" dirty="0" smtClean="0"/>
              <a:t>Detects abnormalities </a:t>
            </a:r>
          </a:p>
          <a:p>
            <a:pPr algn="ctr"/>
            <a:r>
              <a:rPr lang="en-US" sz="3600" dirty="0" smtClean="0"/>
              <a:t>Supports early diagnosis</a:t>
            </a:r>
          </a:p>
          <a:p>
            <a:pPr marL="0" indent="0" algn="ctr">
              <a:buNone/>
            </a:pPr>
            <a:endParaRPr lang="en-US" dirty="0"/>
          </a:p>
        </p:txBody>
      </p:sp>
      <p:pic>
        <p:nvPicPr>
          <p:cNvPr id="4" name="Picture 3"/>
          <p:cNvPicPr>
            <a:picLocks noChangeAspect="1"/>
          </p:cNvPicPr>
          <p:nvPr/>
        </p:nvPicPr>
        <p:blipFill>
          <a:blip r:embed="rId3"/>
          <a:stretch>
            <a:fillRect/>
          </a:stretch>
        </p:blipFill>
        <p:spPr>
          <a:xfrm>
            <a:off x="141668" y="1446127"/>
            <a:ext cx="2665927" cy="1649027"/>
          </a:xfrm>
          <a:prstGeom prst="rect">
            <a:avLst/>
          </a:prstGeom>
        </p:spPr>
      </p:pic>
      <p:pic>
        <p:nvPicPr>
          <p:cNvPr id="5" name="Picture 4"/>
          <p:cNvPicPr>
            <a:picLocks noChangeAspect="1"/>
          </p:cNvPicPr>
          <p:nvPr/>
        </p:nvPicPr>
        <p:blipFill>
          <a:blip r:embed="rId4"/>
          <a:stretch>
            <a:fillRect/>
          </a:stretch>
        </p:blipFill>
        <p:spPr>
          <a:xfrm>
            <a:off x="9177338" y="4597400"/>
            <a:ext cx="2676525" cy="1846262"/>
          </a:xfrm>
          <a:prstGeom prst="rect">
            <a:avLst/>
          </a:prstGeom>
        </p:spPr>
      </p:pic>
    </p:spTree>
    <p:extLst>
      <p:ext uri="{BB962C8B-B14F-4D97-AF65-F5344CB8AC3E}">
        <p14:creationId xmlns:p14="http://schemas.microsoft.com/office/powerpoint/2010/main" val="4446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600" b="1" dirty="0" smtClean="0"/>
              <a:t>IMAGE ANALYSIS EXAMPLE</a:t>
            </a:r>
            <a:endParaRPr lang="en-US" sz="6600" b="1" dirty="0"/>
          </a:p>
        </p:txBody>
      </p:sp>
      <p:sp>
        <p:nvSpPr>
          <p:cNvPr id="3" name="Content Placeholder 2"/>
          <p:cNvSpPr>
            <a:spLocks noGrp="1"/>
          </p:cNvSpPr>
          <p:nvPr>
            <p:ph idx="1"/>
          </p:nvPr>
        </p:nvSpPr>
        <p:spPr/>
        <p:txBody>
          <a:bodyPr/>
          <a:lstStyle/>
          <a:p>
            <a:pPr marL="0" indent="0" algn="ctr">
              <a:buNone/>
            </a:pPr>
            <a:r>
              <a:rPr lang="en-US" sz="4400" dirty="0" smtClean="0"/>
              <a:t>Example</a:t>
            </a:r>
          </a:p>
          <a:p>
            <a:pPr marL="0" indent="0" algn="ctr">
              <a:buNone/>
            </a:pPr>
            <a:endParaRPr lang="en-US" dirty="0"/>
          </a:p>
          <a:p>
            <a:pPr algn="ctr"/>
            <a:r>
              <a:rPr lang="en-US" sz="3600" dirty="0" smtClean="0"/>
              <a:t>AI detects early-stage disease </a:t>
            </a:r>
          </a:p>
          <a:p>
            <a:pPr algn="ctr"/>
            <a:r>
              <a:rPr lang="en-US" sz="3600" dirty="0" smtClean="0"/>
              <a:t>Alerts clinicians </a:t>
            </a:r>
          </a:p>
          <a:p>
            <a:pPr algn="ctr"/>
            <a:r>
              <a:rPr lang="en-US" sz="3600" dirty="0" smtClean="0"/>
              <a:t>Speeds up diagnosis</a:t>
            </a:r>
          </a:p>
          <a:p>
            <a:pPr marL="0" indent="0" algn="ctr">
              <a:buNone/>
            </a:pPr>
            <a:endParaRPr lang="en-US" sz="3600" dirty="0"/>
          </a:p>
        </p:txBody>
      </p:sp>
      <p:pic>
        <p:nvPicPr>
          <p:cNvPr id="4" name="Picture 3"/>
          <p:cNvPicPr>
            <a:picLocks noChangeAspect="1"/>
          </p:cNvPicPr>
          <p:nvPr/>
        </p:nvPicPr>
        <p:blipFill>
          <a:blip r:embed="rId3"/>
          <a:stretch>
            <a:fillRect/>
          </a:stretch>
        </p:blipFill>
        <p:spPr>
          <a:xfrm>
            <a:off x="8271060" y="4150658"/>
            <a:ext cx="3557586" cy="2171699"/>
          </a:xfrm>
          <a:prstGeom prst="rect">
            <a:avLst/>
          </a:prstGeom>
        </p:spPr>
      </p:pic>
    </p:spTree>
    <p:extLst>
      <p:ext uri="{BB962C8B-B14F-4D97-AF65-F5344CB8AC3E}">
        <p14:creationId xmlns:p14="http://schemas.microsoft.com/office/powerpoint/2010/main" val="3852130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2286000"/>
          </a:xfrm>
        </p:spPr>
        <p:txBody>
          <a:bodyPr>
            <a:noAutofit/>
          </a:bodyPr>
          <a:lstStyle/>
          <a:p>
            <a:pPr algn="ctr"/>
            <a:r>
              <a:rPr lang="en-US" sz="6600" b="1" dirty="0" smtClean="0"/>
              <a:t>AI SOLUTION 2: PREDICTIVE ANALYTICS</a:t>
            </a:r>
            <a:endParaRPr lang="en-US" sz="6600" b="1" dirty="0"/>
          </a:p>
        </p:txBody>
      </p:sp>
      <p:sp>
        <p:nvSpPr>
          <p:cNvPr id="3" name="Content Placeholder 2"/>
          <p:cNvSpPr>
            <a:spLocks noGrp="1"/>
          </p:cNvSpPr>
          <p:nvPr>
            <p:ph idx="1"/>
          </p:nvPr>
        </p:nvSpPr>
        <p:spPr>
          <a:xfrm>
            <a:off x="838200" y="2286000"/>
            <a:ext cx="10515600" cy="4571999"/>
          </a:xfrm>
        </p:spPr>
        <p:txBody>
          <a:bodyPr/>
          <a:lstStyle/>
          <a:p>
            <a:pPr marL="0" indent="0" algn="ctr">
              <a:buNone/>
            </a:pPr>
            <a:r>
              <a:rPr lang="en-US" sz="4400" dirty="0" smtClean="0"/>
              <a:t>Predictive Analytics</a:t>
            </a:r>
          </a:p>
          <a:p>
            <a:pPr algn="ctr"/>
            <a:endParaRPr lang="en-US" dirty="0" smtClean="0"/>
          </a:p>
          <a:p>
            <a:pPr algn="ctr"/>
            <a:r>
              <a:rPr lang="en-US" sz="3600" dirty="0" smtClean="0"/>
              <a:t>Uses patient data </a:t>
            </a:r>
          </a:p>
          <a:p>
            <a:pPr algn="ctr"/>
            <a:r>
              <a:rPr lang="en-US" sz="3600" dirty="0" smtClean="0"/>
              <a:t>Predicts disease risk </a:t>
            </a:r>
          </a:p>
          <a:p>
            <a:pPr algn="ctr"/>
            <a:r>
              <a:rPr lang="en-US" sz="3600" dirty="0" smtClean="0"/>
              <a:t>Supports prevention</a:t>
            </a:r>
          </a:p>
          <a:p>
            <a:endParaRPr lang="en-US" dirty="0"/>
          </a:p>
        </p:txBody>
      </p:sp>
      <p:pic>
        <p:nvPicPr>
          <p:cNvPr id="4" name="Picture 3"/>
          <p:cNvPicPr>
            <a:picLocks noChangeAspect="1"/>
          </p:cNvPicPr>
          <p:nvPr/>
        </p:nvPicPr>
        <p:blipFill>
          <a:blip r:embed="rId3"/>
          <a:stretch>
            <a:fillRect/>
          </a:stretch>
        </p:blipFill>
        <p:spPr>
          <a:xfrm>
            <a:off x="0" y="3343274"/>
            <a:ext cx="3073154" cy="3514725"/>
          </a:xfrm>
          <a:prstGeom prst="rect">
            <a:avLst/>
          </a:prstGeom>
        </p:spPr>
      </p:pic>
    </p:spTree>
    <p:extLst>
      <p:ext uri="{BB962C8B-B14F-4D97-AF65-F5344CB8AC3E}">
        <p14:creationId xmlns:p14="http://schemas.microsoft.com/office/powerpoint/2010/main" val="2895534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985963"/>
          </a:xfrm>
        </p:spPr>
        <p:txBody>
          <a:bodyPr>
            <a:noAutofit/>
          </a:bodyPr>
          <a:lstStyle/>
          <a:p>
            <a:pPr algn="ctr"/>
            <a:r>
              <a:rPr lang="en-US" sz="6600" b="1" dirty="0" smtClean="0"/>
              <a:t>PREDICTIVE ANALYTICS EXAMPLE</a:t>
            </a:r>
            <a:endParaRPr lang="en-US" sz="6600" b="1" dirty="0"/>
          </a:p>
        </p:txBody>
      </p:sp>
      <p:sp>
        <p:nvSpPr>
          <p:cNvPr id="3" name="Content Placeholder 2"/>
          <p:cNvSpPr>
            <a:spLocks noGrp="1"/>
          </p:cNvSpPr>
          <p:nvPr>
            <p:ph idx="1"/>
          </p:nvPr>
        </p:nvSpPr>
        <p:spPr/>
        <p:txBody>
          <a:bodyPr/>
          <a:lstStyle/>
          <a:p>
            <a:pPr marL="0" indent="0" algn="ctr">
              <a:buNone/>
            </a:pPr>
            <a:r>
              <a:rPr lang="en-US" sz="4400" dirty="0" smtClean="0"/>
              <a:t>Example</a:t>
            </a:r>
          </a:p>
          <a:p>
            <a:pPr algn="ctr"/>
            <a:endParaRPr lang="en-US" dirty="0" smtClean="0"/>
          </a:p>
          <a:p>
            <a:pPr algn="ctr"/>
            <a:r>
              <a:rPr lang="en-US" sz="3600" dirty="0" smtClean="0"/>
              <a:t>Identifies high-risk patients </a:t>
            </a:r>
          </a:p>
          <a:p>
            <a:pPr algn="ctr"/>
            <a:r>
              <a:rPr lang="en-US" sz="3600" dirty="0" smtClean="0"/>
              <a:t>Enables early intervention </a:t>
            </a:r>
          </a:p>
          <a:p>
            <a:pPr algn="ctr"/>
            <a:r>
              <a:rPr lang="en-US" sz="3600" dirty="0" smtClean="0"/>
              <a:t>Reduces hospitalizations</a:t>
            </a:r>
          </a:p>
          <a:p>
            <a:endParaRPr lang="en-US" dirty="0"/>
          </a:p>
        </p:txBody>
      </p:sp>
      <p:pic>
        <p:nvPicPr>
          <p:cNvPr id="4" name="Picture 3"/>
          <p:cNvPicPr>
            <a:picLocks noChangeAspect="1"/>
          </p:cNvPicPr>
          <p:nvPr/>
        </p:nvPicPr>
        <p:blipFill>
          <a:blip r:embed="rId3"/>
          <a:stretch>
            <a:fillRect/>
          </a:stretch>
        </p:blipFill>
        <p:spPr>
          <a:xfrm>
            <a:off x="8693238" y="4872037"/>
            <a:ext cx="3498761" cy="1985963"/>
          </a:xfrm>
          <a:prstGeom prst="rect">
            <a:avLst/>
          </a:prstGeom>
        </p:spPr>
      </p:pic>
    </p:spTree>
    <p:extLst>
      <p:ext uri="{BB962C8B-B14F-4D97-AF65-F5344CB8AC3E}">
        <p14:creationId xmlns:p14="http://schemas.microsoft.com/office/powerpoint/2010/main" val="954034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2228850"/>
          </a:xfrm>
        </p:spPr>
        <p:txBody>
          <a:bodyPr>
            <a:noAutofit/>
          </a:bodyPr>
          <a:lstStyle/>
          <a:p>
            <a:pPr algn="ctr"/>
            <a:r>
              <a:rPr lang="en-US" sz="6600" b="1" dirty="0" smtClean="0"/>
              <a:t>AI SOLUTION 3: PROCESS OPTIMIZATION</a:t>
            </a:r>
            <a:endParaRPr lang="en-US" sz="6600" b="1" dirty="0"/>
          </a:p>
        </p:txBody>
      </p:sp>
      <p:sp>
        <p:nvSpPr>
          <p:cNvPr id="3" name="Content Placeholder 2"/>
          <p:cNvSpPr>
            <a:spLocks noGrp="1"/>
          </p:cNvSpPr>
          <p:nvPr>
            <p:ph idx="1"/>
          </p:nvPr>
        </p:nvSpPr>
        <p:spPr>
          <a:xfrm>
            <a:off x="838200" y="2228850"/>
            <a:ext cx="10515600" cy="4629149"/>
          </a:xfrm>
        </p:spPr>
        <p:txBody>
          <a:bodyPr/>
          <a:lstStyle/>
          <a:p>
            <a:pPr marL="0" indent="0" algn="ctr">
              <a:buNone/>
            </a:pPr>
            <a:r>
              <a:rPr lang="en-US" sz="4400" dirty="0" smtClean="0"/>
              <a:t>Process Optimization</a:t>
            </a:r>
          </a:p>
          <a:p>
            <a:pPr algn="ctr"/>
            <a:endParaRPr lang="en-US" dirty="0" smtClean="0"/>
          </a:p>
          <a:p>
            <a:pPr algn="ctr"/>
            <a:endParaRPr lang="en-US" dirty="0"/>
          </a:p>
          <a:p>
            <a:pPr algn="ctr"/>
            <a:r>
              <a:rPr lang="en-US" sz="3600" dirty="0" smtClean="0"/>
              <a:t>Improves workflows </a:t>
            </a:r>
          </a:p>
          <a:p>
            <a:pPr algn="ctr"/>
            <a:r>
              <a:rPr lang="en-US" sz="3600" dirty="0" smtClean="0"/>
              <a:t>Reduces inefficiencies </a:t>
            </a:r>
          </a:p>
          <a:p>
            <a:pPr algn="ctr"/>
            <a:r>
              <a:rPr lang="en-US" sz="3600" dirty="0" smtClean="0"/>
              <a:t>Saves time and resources</a:t>
            </a:r>
          </a:p>
          <a:p>
            <a:pPr algn="ctr"/>
            <a:endParaRPr lang="en-US" dirty="0"/>
          </a:p>
        </p:txBody>
      </p:sp>
      <p:pic>
        <p:nvPicPr>
          <p:cNvPr id="4" name="Picture 3"/>
          <p:cNvPicPr>
            <a:picLocks noChangeAspect="1"/>
          </p:cNvPicPr>
          <p:nvPr/>
        </p:nvPicPr>
        <p:blipFill>
          <a:blip r:embed="rId3"/>
          <a:stretch>
            <a:fillRect/>
          </a:stretch>
        </p:blipFill>
        <p:spPr>
          <a:xfrm>
            <a:off x="0" y="2822888"/>
            <a:ext cx="3078050" cy="2314576"/>
          </a:xfrm>
          <a:prstGeom prst="rect">
            <a:avLst/>
          </a:prstGeom>
        </p:spPr>
      </p:pic>
    </p:spTree>
    <p:extLst>
      <p:ext uri="{BB962C8B-B14F-4D97-AF65-F5344CB8AC3E}">
        <p14:creationId xmlns:p14="http://schemas.microsoft.com/office/powerpoint/2010/main" val="1112973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690688"/>
          </a:xfrm>
        </p:spPr>
        <p:txBody>
          <a:bodyPr>
            <a:noAutofit/>
          </a:bodyPr>
          <a:lstStyle/>
          <a:p>
            <a:pPr algn="ctr"/>
            <a:r>
              <a:rPr lang="en-US" sz="6600" b="1" dirty="0" smtClean="0"/>
              <a:t>PROCESS OPTIMIZATION EXAMPLE</a:t>
            </a:r>
            <a:endParaRPr lang="en-US" sz="6600" b="1" dirty="0"/>
          </a:p>
        </p:txBody>
      </p:sp>
      <p:sp>
        <p:nvSpPr>
          <p:cNvPr id="3" name="Content Placeholder 2"/>
          <p:cNvSpPr>
            <a:spLocks noGrp="1"/>
          </p:cNvSpPr>
          <p:nvPr>
            <p:ph idx="1"/>
          </p:nvPr>
        </p:nvSpPr>
        <p:spPr>
          <a:xfrm>
            <a:off x="838200" y="1825624"/>
            <a:ext cx="10515600" cy="5160963"/>
          </a:xfrm>
        </p:spPr>
        <p:txBody>
          <a:bodyPr/>
          <a:lstStyle/>
          <a:p>
            <a:pPr marL="0" indent="0" algn="ctr">
              <a:buNone/>
            </a:pPr>
            <a:r>
              <a:rPr lang="en-US" sz="4400" dirty="0" smtClean="0"/>
              <a:t>Example</a:t>
            </a:r>
          </a:p>
          <a:p>
            <a:pPr algn="ctr"/>
            <a:endParaRPr lang="en-US" dirty="0" smtClean="0"/>
          </a:p>
          <a:p>
            <a:pPr algn="ctr"/>
            <a:endParaRPr lang="en-US" dirty="0"/>
          </a:p>
          <a:p>
            <a:pPr algn="ctr"/>
            <a:r>
              <a:rPr lang="en-US" sz="3600" dirty="0" smtClean="0"/>
              <a:t>Automated scheduling </a:t>
            </a:r>
          </a:p>
          <a:p>
            <a:pPr algn="ctr"/>
            <a:r>
              <a:rPr lang="en-US" sz="3600" dirty="0" smtClean="0"/>
              <a:t>Reduced wait times </a:t>
            </a:r>
          </a:p>
          <a:p>
            <a:pPr algn="ctr"/>
            <a:r>
              <a:rPr lang="en-US" sz="3600" dirty="0" smtClean="0"/>
              <a:t>Improved efficiency</a:t>
            </a:r>
            <a:endParaRPr lang="en-US" sz="3600" dirty="0"/>
          </a:p>
        </p:txBody>
      </p:sp>
      <p:pic>
        <p:nvPicPr>
          <p:cNvPr id="4" name="Picture 3"/>
          <p:cNvPicPr>
            <a:picLocks noChangeAspect="1"/>
          </p:cNvPicPr>
          <p:nvPr/>
        </p:nvPicPr>
        <p:blipFill>
          <a:blip r:embed="rId3"/>
          <a:stretch>
            <a:fillRect/>
          </a:stretch>
        </p:blipFill>
        <p:spPr>
          <a:xfrm>
            <a:off x="116515" y="1690689"/>
            <a:ext cx="3143250" cy="4743450"/>
          </a:xfrm>
          <a:prstGeom prst="rect">
            <a:avLst/>
          </a:prstGeom>
        </p:spPr>
      </p:pic>
    </p:spTree>
    <p:extLst>
      <p:ext uri="{BB962C8B-B14F-4D97-AF65-F5344CB8AC3E}">
        <p14:creationId xmlns:p14="http://schemas.microsoft.com/office/powerpoint/2010/main" val="1588358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smtClean="0"/>
              <a:t>RESPONSIBLE AI</a:t>
            </a:r>
            <a:endParaRPr lang="en-US" sz="6600" b="1" dirty="0"/>
          </a:p>
        </p:txBody>
      </p:sp>
      <p:sp>
        <p:nvSpPr>
          <p:cNvPr id="3" name="Content Placeholder 2"/>
          <p:cNvSpPr>
            <a:spLocks noGrp="1"/>
          </p:cNvSpPr>
          <p:nvPr>
            <p:ph idx="1"/>
          </p:nvPr>
        </p:nvSpPr>
        <p:spPr/>
        <p:txBody>
          <a:bodyPr/>
          <a:lstStyle/>
          <a:p>
            <a:pPr marL="0" indent="0" algn="ctr">
              <a:buNone/>
            </a:pPr>
            <a:r>
              <a:rPr lang="en-US" sz="4400" dirty="0" smtClean="0"/>
              <a:t>Ethical Concerns</a:t>
            </a:r>
          </a:p>
          <a:p>
            <a:pPr algn="ctr"/>
            <a:endParaRPr lang="en-US" dirty="0" smtClean="0"/>
          </a:p>
          <a:p>
            <a:pPr algn="ctr"/>
            <a:r>
              <a:rPr lang="en-US" sz="3600" dirty="0" smtClean="0"/>
              <a:t>Wrong predictions </a:t>
            </a:r>
          </a:p>
          <a:p>
            <a:pPr algn="ctr"/>
            <a:r>
              <a:rPr lang="en-US" sz="3600" dirty="0" smtClean="0"/>
              <a:t>Bias </a:t>
            </a:r>
          </a:p>
          <a:p>
            <a:pPr algn="ctr"/>
            <a:r>
              <a:rPr lang="en-US" sz="3600" dirty="0" smtClean="0"/>
              <a:t>Privacy</a:t>
            </a:r>
          </a:p>
          <a:p>
            <a:endParaRPr lang="en-US" dirty="0"/>
          </a:p>
        </p:txBody>
      </p:sp>
      <p:pic>
        <p:nvPicPr>
          <p:cNvPr id="4" name="Picture 3"/>
          <p:cNvPicPr>
            <a:picLocks noChangeAspect="1"/>
          </p:cNvPicPr>
          <p:nvPr/>
        </p:nvPicPr>
        <p:blipFill>
          <a:blip r:embed="rId3"/>
          <a:stretch>
            <a:fillRect/>
          </a:stretch>
        </p:blipFill>
        <p:spPr>
          <a:xfrm>
            <a:off x="331229" y="4393103"/>
            <a:ext cx="3586163" cy="2200275"/>
          </a:xfrm>
          <a:prstGeom prst="rect">
            <a:avLst/>
          </a:prstGeom>
        </p:spPr>
      </p:pic>
    </p:spTree>
    <p:extLst>
      <p:ext uri="{BB962C8B-B14F-4D97-AF65-F5344CB8AC3E}">
        <p14:creationId xmlns:p14="http://schemas.microsoft.com/office/powerpoint/2010/main" val="2973901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600" b="1" dirty="0" smtClean="0"/>
              <a:t>RESPONSIBLE AI SOLUTIONS</a:t>
            </a:r>
            <a:endParaRPr lang="en-US" sz="6600" b="1" dirty="0"/>
          </a:p>
        </p:txBody>
      </p:sp>
      <p:sp>
        <p:nvSpPr>
          <p:cNvPr id="3" name="Content Placeholder 2"/>
          <p:cNvSpPr>
            <a:spLocks noGrp="1"/>
          </p:cNvSpPr>
          <p:nvPr>
            <p:ph idx="1"/>
          </p:nvPr>
        </p:nvSpPr>
        <p:spPr/>
        <p:txBody>
          <a:bodyPr>
            <a:normAutofit/>
          </a:bodyPr>
          <a:lstStyle/>
          <a:p>
            <a:pPr marL="0" indent="0" algn="ctr">
              <a:buNone/>
            </a:pPr>
            <a:r>
              <a:rPr lang="en-US" sz="4400" dirty="0" smtClean="0"/>
              <a:t>Solutions</a:t>
            </a:r>
          </a:p>
          <a:p>
            <a:pPr algn="ctr"/>
            <a:endParaRPr lang="en-US" dirty="0" smtClean="0"/>
          </a:p>
          <a:p>
            <a:pPr algn="ctr"/>
            <a:endParaRPr lang="en-US" dirty="0"/>
          </a:p>
          <a:p>
            <a:pPr algn="ctr"/>
            <a:r>
              <a:rPr lang="en-US" sz="3600" dirty="0" smtClean="0"/>
              <a:t>Human oversight </a:t>
            </a:r>
          </a:p>
          <a:p>
            <a:pPr algn="ctr"/>
            <a:r>
              <a:rPr lang="en-US" sz="3600" dirty="0" smtClean="0"/>
              <a:t>Diverse data </a:t>
            </a:r>
          </a:p>
          <a:p>
            <a:pPr algn="ctr"/>
            <a:r>
              <a:rPr lang="en-US" sz="3600" dirty="0" smtClean="0"/>
              <a:t>Transparency</a:t>
            </a:r>
          </a:p>
          <a:p>
            <a:pPr algn="ctr"/>
            <a:endParaRPr lang="en-US" dirty="0"/>
          </a:p>
        </p:txBody>
      </p:sp>
      <p:pic>
        <p:nvPicPr>
          <p:cNvPr id="4" name="Picture 3"/>
          <p:cNvPicPr>
            <a:picLocks noChangeAspect="1"/>
          </p:cNvPicPr>
          <p:nvPr/>
        </p:nvPicPr>
        <p:blipFill>
          <a:blip r:embed="rId3"/>
          <a:stretch>
            <a:fillRect/>
          </a:stretch>
        </p:blipFill>
        <p:spPr>
          <a:xfrm>
            <a:off x="153741" y="2229644"/>
            <a:ext cx="3105150" cy="1771650"/>
          </a:xfrm>
          <a:prstGeom prst="rect">
            <a:avLst/>
          </a:prstGeom>
        </p:spPr>
      </p:pic>
      <p:pic>
        <p:nvPicPr>
          <p:cNvPr id="5" name="Picture 4"/>
          <p:cNvPicPr>
            <a:picLocks noChangeAspect="1"/>
          </p:cNvPicPr>
          <p:nvPr/>
        </p:nvPicPr>
        <p:blipFill>
          <a:blip r:embed="rId4"/>
          <a:stretch>
            <a:fillRect/>
          </a:stretch>
        </p:blipFill>
        <p:spPr>
          <a:xfrm>
            <a:off x="9064312" y="2229644"/>
            <a:ext cx="2938462" cy="1771650"/>
          </a:xfrm>
          <a:prstGeom prst="rect">
            <a:avLst/>
          </a:prstGeom>
        </p:spPr>
      </p:pic>
    </p:spTree>
    <p:extLst>
      <p:ext uri="{BB962C8B-B14F-4D97-AF65-F5344CB8AC3E}">
        <p14:creationId xmlns:p14="http://schemas.microsoft.com/office/powerpoint/2010/main" val="3901061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0"/>
            <a:ext cx="10515600" cy="1681163"/>
          </a:xfrm>
        </p:spPr>
        <p:txBody>
          <a:bodyPr>
            <a:normAutofit/>
          </a:bodyPr>
          <a:lstStyle/>
          <a:p>
            <a:pPr algn="ctr"/>
            <a:r>
              <a:rPr lang="en-US" sz="6600" b="1" dirty="0" smtClean="0"/>
              <a:t>FUTURE IMPACT</a:t>
            </a:r>
            <a:br>
              <a:rPr lang="en-US" sz="6600" b="1" dirty="0" smtClean="0"/>
            </a:br>
            <a:r>
              <a:rPr lang="en-US" sz="2400" b="1" dirty="0" smtClean="0"/>
              <a:t>Future of Healthcare AI</a:t>
            </a:r>
            <a:endParaRPr lang="en-US" sz="6600" b="1" dirty="0"/>
          </a:p>
        </p:txBody>
      </p:sp>
      <p:sp>
        <p:nvSpPr>
          <p:cNvPr id="3" name="Text Placeholder 2"/>
          <p:cNvSpPr>
            <a:spLocks noGrp="1"/>
          </p:cNvSpPr>
          <p:nvPr>
            <p:ph type="body" idx="1"/>
          </p:nvPr>
        </p:nvSpPr>
        <p:spPr/>
        <p:txBody>
          <a:bodyPr>
            <a:normAutofit fontScale="85000" lnSpcReduction="20000"/>
          </a:bodyPr>
          <a:lstStyle/>
          <a:p>
            <a:pPr algn="ctr"/>
            <a:r>
              <a:rPr lang="en-US" sz="4400" b="0" dirty="0" smtClean="0"/>
              <a:t>Benefits</a:t>
            </a:r>
            <a:endParaRPr lang="en-US" sz="4400" b="0" dirty="0"/>
          </a:p>
        </p:txBody>
      </p:sp>
      <p:sp>
        <p:nvSpPr>
          <p:cNvPr id="7" name="Rectangle 1"/>
          <p:cNvSpPr>
            <a:spLocks noGrp="1" noChangeArrowheads="1"/>
          </p:cNvSpPr>
          <p:nvPr>
            <p:ph sz="half" idx="2"/>
          </p:nvPr>
        </p:nvSpPr>
        <p:spPr bwMode="auto">
          <a:xfrm>
            <a:off x="1331571" y="3339861"/>
            <a:ext cx="417422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smtClean="0">
                <a:ln>
                  <a:noFill/>
                </a:ln>
                <a:solidFill>
                  <a:schemeClr val="tx1"/>
                </a:solidFill>
                <a:effectLst/>
                <a:latin typeface="+mj-lt"/>
              </a:rPr>
              <a:t>Faster diagnosis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smtClean="0">
                <a:ln>
                  <a:noFill/>
                </a:ln>
                <a:solidFill>
                  <a:schemeClr val="tx1"/>
                </a:solidFill>
                <a:effectLst/>
                <a:latin typeface="+mj-lt"/>
              </a:rPr>
              <a:t>Better outcomes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smtClean="0">
                <a:ln>
                  <a:noFill/>
                </a:ln>
                <a:solidFill>
                  <a:schemeClr val="tx1"/>
                </a:solidFill>
                <a:effectLst/>
                <a:latin typeface="+mj-lt"/>
              </a:rPr>
              <a:t>Increased efficiency </a:t>
            </a:r>
          </a:p>
        </p:txBody>
      </p:sp>
      <p:sp>
        <p:nvSpPr>
          <p:cNvPr id="5" name="Text Placeholder 4"/>
          <p:cNvSpPr>
            <a:spLocks noGrp="1"/>
          </p:cNvSpPr>
          <p:nvPr>
            <p:ph type="body" sz="quarter" idx="3"/>
          </p:nvPr>
        </p:nvSpPr>
        <p:spPr/>
        <p:txBody>
          <a:bodyPr>
            <a:normAutofit fontScale="85000" lnSpcReduction="20000"/>
          </a:bodyPr>
          <a:lstStyle/>
          <a:p>
            <a:pPr algn="ctr"/>
            <a:r>
              <a:rPr lang="en-US" sz="4400" b="0" dirty="0" smtClean="0"/>
              <a:t>Challenges</a:t>
            </a:r>
            <a:endParaRPr lang="en-US" sz="4400" b="0" dirty="0"/>
          </a:p>
        </p:txBody>
      </p:sp>
      <p:sp>
        <p:nvSpPr>
          <p:cNvPr id="8" name="Rectangle 2"/>
          <p:cNvSpPr>
            <a:spLocks noGrp="1" noChangeArrowheads="1"/>
          </p:cNvSpPr>
          <p:nvPr>
            <p:ph sz="quarter" idx="4"/>
          </p:nvPr>
        </p:nvSpPr>
        <p:spPr bwMode="auto">
          <a:xfrm>
            <a:off x="7257612" y="3320137"/>
            <a:ext cx="301236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smtClean="0">
                <a:ln>
                  <a:noFill/>
                </a:ln>
                <a:solidFill>
                  <a:schemeClr val="tx1"/>
                </a:solidFill>
                <a:effectLst/>
                <a:latin typeface="+mj-lt"/>
              </a:rPr>
              <a:t>Trust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smtClean="0">
                <a:ln>
                  <a:noFill/>
                </a:ln>
                <a:solidFill>
                  <a:schemeClr val="tx1"/>
                </a:solidFill>
                <a:effectLst/>
                <a:latin typeface="+mj-lt"/>
              </a:rPr>
              <a:t>Regulation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smtClean="0">
                <a:ln>
                  <a:noFill/>
                </a:ln>
                <a:solidFill>
                  <a:schemeClr val="tx1"/>
                </a:solidFill>
                <a:effectLst/>
                <a:latin typeface="+mj-lt"/>
              </a:rPr>
              <a:t>Over-reliance </a:t>
            </a:r>
          </a:p>
        </p:txBody>
      </p:sp>
      <p:pic>
        <p:nvPicPr>
          <p:cNvPr id="9" name="Picture 8"/>
          <p:cNvPicPr>
            <a:picLocks noChangeAspect="1"/>
          </p:cNvPicPr>
          <p:nvPr/>
        </p:nvPicPr>
        <p:blipFill>
          <a:blip r:embed="rId3"/>
          <a:stretch>
            <a:fillRect/>
          </a:stretch>
        </p:blipFill>
        <p:spPr>
          <a:xfrm>
            <a:off x="155233" y="172525"/>
            <a:ext cx="2045042" cy="1508638"/>
          </a:xfrm>
          <a:prstGeom prst="rect">
            <a:avLst/>
          </a:prstGeom>
        </p:spPr>
      </p:pic>
    </p:spTree>
    <p:extLst>
      <p:ext uri="{BB962C8B-B14F-4D97-AF65-F5344CB8AC3E}">
        <p14:creationId xmlns:p14="http://schemas.microsoft.com/office/powerpoint/2010/main" val="1546070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smtClean="0"/>
              <a:t>CONCLUSION</a:t>
            </a:r>
            <a:endParaRPr lang="en-US" sz="6600" b="1" dirty="0"/>
          </a:p>
        </p:txBody>
      </p:sp>
      <p:sp>
        <p:nvSpPr>
          <p:cNvPr id="3" name="Content Placeholder 2"/>
          <p:cNvSpPr>
            <a:spLocks noGrp="1"/>
          </p:cNvSpPr>
          <p:nvPr>
            <p:ph idx="1"/>
          </p:nvPr>
        </p:nvSpPr>
        <p:spPr/>
        <p:txBody>
          <a:bodyPr>
            <a:normAutofit/>
          </a:bodyPr>
          <a:lstStyle/>
          <a:p>
            <a:pPr marL="0" indent="0" algn="ctr">
              <a:buNone/>
            </a:pPr>
            <a:r>
              <a:rPr lang="en-US" sz="4400" dirty="0" smtClean="0"/>
              <a:t>Key Takeaway</a:t>
            </a:r>
            <a:br>
              <a:rPr lang="en-US" sz="4400" dirty="0" smtClean="0"/>
            </a:br>
            <a:endParaRPr lang="en-US" sz="4400" dirty="0" smtClean="0"/>
          </a:p>
          <a:p>
            <a:pPr marL="0" indent="0" algn="ctr">
              <a:buNone/>
            </a:pPr>
            <a:endParaRPr lang="en-US" sz="4400" dirty="0"/>
          </a:p>
          <a:p>
            <a:pPr marL="0" indent="0" algn="ctr">
              <a:buNone/>
            </a:pPr>
            <a:r>
              <a:rPr lang="en-US" sz="4000" i="1" dirty="0" smtClean="0"/>
              <a:t>AI will not replace healthcare—</a:t>
            </a:r>
            <a:br>
              <a:rPr lang="en-US" sz="4000" i="1" dirty="0" smtClean="0"/>
            </a:br>
            <a:r>
              <a:rPr lang="en-US" sz="4000" i="1" dirty="0" smtClean="0"/>
              <a:t>It will transform it</a:t>
            </a:r>
            <a:endParaRPr lang="en-US" sz="4000" i="1" dirty="0"/>
          </a:p>
        </p:txBody>
      </p:sp>
    </p:spTree>
    <p:extLst>
      <p:ext uri="{BB962C8B-B14F-4D97-AF65-F5344CB8AC3E}">
        <p14:creationId xmlns:p14="http://schemas.microsoft.com/office/powerpoint/2010/main" val="587580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85824"/>
          </a:xfrm>
        </p:spPr>
        <p:txBody>
          <a:bodyPr>
            <a:normAutofit fontScale="90000"/>
          </a:bodyPr>
          <a:lstStyle/>
          <a:p>
            <a:pPr algn="ctr"/>
            <a:r>
              <a:rPr lang="en-US" sz="6600" b="1" dirty="0" smtClean="0"/>
              <a:t>References</a:t>
            </a:r>
            <a:endParaRPr lang="en-US" sz="6600" b="1" dirty="0"/>
          </a:p>
        </p:txBody>
      </p:sp>
      <p:sp>
        <p:nvSpPr>
          <p:cNvPr id="3" name="Content Placeholder 2"/>
          <p:cNvSpPr>
            <a:spLocks noGrp="1"/>
          </p:cNvSpPr>
          <p:nvPr>
            <p:ph idx="1"/>
          </p:nvPr>
        </p:nvSpPr>
        <p:spPr>
          <a:xfrm>
            <a:off x="0" y="728662"/>
            <a:ext cx="12192000" cy="6315075"/>
          </a:xfrm>
        </p:spPr>
        <p:txBody>
          <a:bodyPr>
            <a:normAutofit lnSpcReduction="10000"/>
          </a:bodyPr>
          <a:lstStyle/>
          <a:p>
            <a:pPr algn="ctr"/>
            <a:endParaRPr lang="en-US" sz="2000" dirty="0" smtClean="0"/>
          </a:p>
          <a:p>
            <a:pPr algn="ctr"/>
            <a:r>
              <a:rPr lang="en-US" sz="2000" dirty="0" err="1" smtClean="0"/>
              <a:t>Maslej</a:t>
            </a:r>
            <a:r>
              <a:rPr lang="en-US" sz="2000" dirty="0" smtClean="0"/>
              <a:t>, N., </a:t>
            </a:r>
            <a:r>
              <a:rPr lang="en-US" sz="2000" dirty="0" err="1" smtClean="0"/>
              <a:t>Fattorini</a:t>
            </a:r>
            <a:r>
              <a:rPr lang="en-US" sz="2000" dirty="0" smtClean="0"/>
              <a:t>, L., Perrault, R., </a:t>
            </a:r>
            <a:r>
              <a:rPr lang="en-US" sz="2000" dirty="0" err="1" smtClean="0"/>
              <a:t>Parli</a:t>
            </a:r>
            <a:r>
              <a:rPr lang="en-US" sz="2000" dirty="0" smtClean="0"/>
              <a:t>, V., </a:t>
            </a:r>
            <a:r>
              <a:rPr lang="en-US" sz="2000" dirty="0" err="1" smtClean="0"/>
              <a:t>Reuel</a:t>
            </a:r>
            <a:r>
              <a:rPr lang="en-US" sz="2000" dirty="0" smtClean="0"/>
              <a:t>, A., </a:t>
            </a:r>
            <a:r>
              <a:rPr lang="en-US" sz="2000" dirty="0" err="1" smtClean="0"/>
              <a:t>Brynjolfsson</a:t>
            </a:r>
            <a:r>
              <a:rPr lang="en-US" sz="2000" dirty="0" smtClean="0"/>
              <a:t>, E., </a:t>
            </a:r>
            <a:r>
              <a:rPr lang="en-US" sz="2000" dirty="0" err="1" smtClean="0"/>
              <a:t>Etchemendy</a:t>
            </a:r>
            <a:r>
              <a:rPr lang="en-US" sz="2000" dirty="0" smtClean="0"/>
              <a:t>, J., </a:t>
            </a:r>
            <a:r>
              <a:rPr lang="en-US" sz="2000" dirty="0" err="1" smtClean="0"/>
              <a:t>Ligett</a:t>
            </a:r>
            <a:r>
              <a:rPr lang="en-US" sz="2000" dirty="0" smtClean="0"/>
              <a:t>, K., Lyons, T., </a:t>
            </a:r>
            <a:r>
              <a:rPr lang="en-US" sz="2000" dirty="0" err="1" smtClean="0"/>
              <a:t>Manyika</a:t>
            </a:r>
            <a:r>
              <a:rPr lang="en-US" sz="2000" dirty="0" smtClean="0"/>
              <a:t>, J., </a:t>
            </a:r>
            <a:r>
              <a:rPr lang="en-US" sz="2000" dirty="0" err="1" smtClean="0"/>
              <a:t>Niebles</a:t>
            </a:r>
            <a:r>
              <a:rPr lang="en-US" sz="2000" dirty="0" smtClean="0"/>
              <a:t>, J. C., </a:t>
            </a:r>
            <a:r>
              <a:rPr lang="en-US" sz="2000" dirty="0" err="1" smtClean="0"/>
              <a:t>Shoham</a:t>
            </a:r>
            <a:r>
              <a:rPr lang="en-US" sz="2000" dirty="0" smtClean="0"/>
              <a:t>, Y., Wald, R., &amp; Clark, J. (2024). </a:t>
            </a:r>
            <a:r>
              <a:rPr lang="en-US" sz="2000" i="1" dirty="0" smtClean="0"/>
              <a:t>The AI Index 2024 annual report</a:t>
            </a:r>
            <a:r>
              <a:rPr lang="en-US" sz="2000" dirty="0" smtClean="0"/>
              <a:t>. Stanford Institute for Human-Centered AI. https://aiindex.stanford.edu/report/</a:t>
            </a:r>
          </a:p>
          <a:p>
            <a:pPr algn="ctr"/>
            <a:r>
              <a:rPr lang="en-US" sz="2000" dirty="0" err="1" smtClean="0"/>
              <a:t>Tavakoli</a:t>
            </a:r>
            <a:r>
              <a:rPr lang="en-US" sz="2000" dirty="0" smtClean="0"/>
              <a:t>, A., </a:t>
            </a:r>
            <a:r>
              <a:rPr lang="en-US" sz="2000" dirty="0" err="1" smtClean="0"/>
              <a:t>Harreis</a:t>
            </a:r>
            <a:r>
              <a:rPr lang="en-US" sz="2000" dirty="0" smtClean="0"/>
              <a:t>, H., </a:t>
            </a:r>
            <a:r>
              <a:rPr lang="en-US" sz="2000" dirty="0" err="1" smtClean="0"/>
              <a:t>Rowshankish</a:t>
            </a:r>
            <a:r>
              <a:rPr lang="en-US" sz="2000" dirty="0" smtClean="0"/>
              <a:t>, K., &amp; </a:t>
            </a:r>
            <a:r>
              <a:rPr lang="en-US" sz="2000" dirty="0" err="1" smtClean="0"/>
              <a:t>Bogobowicz</a:t>
            </a:r>
            <a:r>
              <a:rPr lang="en-US" sz="2000" dirty="0" smtClean="0"/>
              <a:t>, M. (2024, September 5). </a:t>
            </a:r>
            <a:r>
              <a:rPr lang="en-US" sz="2000" i="1" dirty="0" smtClean="0"/>
              <a:t>Charting a path to the data- and AI-driven enterprise of 2030</a:t>
            </a:r>
            <a:r>
              <a:rPr lang="en-US" sz="2000" dirty="0" smtClean="0"/>
              <a:t>. McKinsey &amp; Company. </a:t>
            </a:r>
            <a:r>
              <a:rPr lang="en-US" sz="2000" dirty="0" smtClean="0">
                <a:hlinkClick r:id="rId2"/>
              </a:rPr>
              <a:t>https://www.mckinsey.com/capabilities/mckinsey-digital/our-insights/charting-a-path-to-the-data-and-ai-driven-enterprise-of-2030</a:t>
            </a:r>
            <a:endParaRPr lang="en-US" sz="2000" dirty="0" smtClean="0"/>
          </a:p>
          <a:p>
            <a:pPr algn="ctr"/>
            <a:r>
              <a:rPr lang="en-US" sz="2000" dirty="0" smtClean="0"/>
              <a:t>Zhang, P., &amp; </a:t>
            </a:r>
            <a:r>
              <a:rPr lang="en-US" sz="2000" dirty="0" err="1" smtClean="0"/>
              <a:t>Boulos</a:t>
            </a:r>
            <a:r>
              <a:rPr lang="en-US" sz="2000" dirty="0" smtClean="0"/>
              <a:t>, M. N. K. (2023). Generative AI in medicine and healthcare: Promises, opportunities and challenges. </a:t>
            </a:r>
            <a:r>
              <a:rPr lang="en-US" sz="2000" i="1" dirty="0" smtClean="0"/>
              <a:t>Future Internet, 15</a:t>
            </a:r>
            <a:r>
              <a:rPr lang="en-US" sz="2000" dirty="0" smtClean="0"/>
              <a:t>(9), 286. </a:t>
            </a:r>
            <a:r>
              <a:rPr lang="en-US" sz="2000" dirty="0" smtClean="0">
                <a:hlinkClick r:id="rId3"/>
              </a:rPr>
              <a:t>https://doi.org/10.3390/fi15090286</a:t>
            </a:r>
            <a:endParaRPr lang="en-US" sz="2000" dirty="0" smtClean="0"/>
          </a:p>
          <a:p>
            <a:pPr algn="ctr"/>
            <a:r>
              <a:rPr lang="en-US" sz="2000" dirty="0" smtClean="0"/>
              <a:t>Lynch, S. (2023, December 8). </a:t>
            </a:r>
            <a:r>
              <a:rPr lang="en-US" sz="2000" i="1" dirty="0" smtClean="0"/>
              <a:t>What to expect in AI in 2024</a:t>
            </a:r>
            <a:r>
              <a:rPr lang="en-US" sz="2000" dirty="0" smtClean="0"/>
              <a:t>. Stanford Human-Centered AI. </a:t>
            </a:r>
            <a:r>
              <a:rPr lang="en-US" sz="2000" dirty="0" smtClean="0">
                <a:hlinkClick r:id="rId4"/>
              </a:rPr>
              <a:t>https://hai.stanford.edu/news/what-expect-ai-2024</a:t>
            </a:r>
            <a:endParaRPr lang="en-US" sz="2000" dirty="0" smtClean="0"/>
          </a:p>
          <a:p>
            <a:pPr algn="ctr"/>
            <a:r>
              <a:rPr lang="en-US" sz="2000" dirty="0" smtClean="0"/>
              <a:t>Bain &amp; Company. (2024, September 25). </a:t>
            </a:r>
            <a:r>
              <a:rPr lang="en-US" sz="2000" i="1" dirty="0" smtClean="0"/>
              <a:t>Five ways AI is changing how we work and live</a:t>
            </a:r>
            <a:r>
              <a:rPr lang="en-US" sz="2000" dirty="0" smtClean="0"/>
              <a:t>. </a:t>
            </a:r>
            <a:r>
              <a:rPr lang="en-US" sz="2000" dirty="0" smtClean="0">
                <a:hlinkClick r:id="rId5"/>
              </a:rPr>
              <a:t>https://www.bain.com/insights/five-ways-ai-is-changing-how-we-work-and-live-interactive/</a:t>
            </a:r>
            <a:endParaRPr lang="en-US" sz="2000" dirty="0" smtClean="0"/>
          </a:p>
          <a:p>
            <a:pPr algn="ctr"/>
            <a:r>
              <a:rPr lang="en-US" sz="2000" dirty="0" smtClean="0"/>
              <a:t>National Institute of Standards and Technology. (</a:t>
            </a:r>
            <a:r>
              <a:rPr lang="en-US" sz="2000" dirty="0" err="1" smtClean="0"/>
              <a:t>n.d.</a:t>
            </a:r>
            <a:r>
              <a:rPr lang="en-US" sz="2000" dirty="0" smtClean="0"/>
              <a:t>). </a:t>
            </a:r>
            <a:r>
              <a:rPr lang="en-US" sz="2000" i="1" dirty="0" smtClean="0"/>
              <a:t>Artificial intelligence risk management framework</a:t>
            </a:r>
            <a:r>
              <a:rPr lang="en-US" sz="2000" dirty="0" smtClean="0"/>
              <a:t>. </a:t>
            </a:r>
            <a:r>
              <a:rPr lang="en-US" sz="2000" dirty="0" smtClean="0">
                <a:hlinkClick r:id="rId6"/>
              </a:rPr>
              <a:t>https://www.nist.gov/artificial-intelligence</a:t>
            </a:r>
            <a:endParaRPr lang="en-US" sz="2000" dirty="0" smtClean="0"/>
          </a:p>
          <a:p>
            <a:pPr algn="ctr"/>
            <a:r>
              <a:rPr lang="en-US" sz="2000" dirty="0" smtClean="0"/>
              <a:t>International Monetary Fund. (2024). </a:t>
            </a:r>
            <a:r>
              <a:rPr lang="en-US" sz="2000" i="1" dirty="0" smtClean="0"/>
              <a:t>High uncertainty and the unknown</a:t>
            </a:r>
            <a:r>
              <a:rPr lang="en-US" sz="2000" dirty="0" smtClean="0"/>
              <a:t>. </a:t>
            </a:r>
            <a:r>
              <a:rPr lang="en-US" sz="2000" dirty="0" smtClean="0">
                <a:hlinkClick r:id="rId7"/>
              </a:rPr>
              <a:t>https://www.imf.org/external/pubs/ft/ar/2024/in-focus/high-uncertainty-and-the-unknown/</a:t>
            </a:r>
            <a:endParaRPr lang="en-US" sz="2000" dirty="0" smtClean="0"/>
          </a:p>
          <a:p>
            <a:pPr algn="ctr"/>
            <a:endParaRPr lang="en-US" sz="2000" dirty="0"/>
          </a:p>
        </p:txBody>
      </p:sp>
    </p:spTree>
    <p:extLst>
      <p:ext uri="{BB962C8B-B14F-4D97-AF65-F5344CB8AC3E}">
        <p14:creationId xmlns:p14="http://schemas.microsoft.com/office/powerpoint/2010/main" val="21759145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52</TotalTime>
  <Words>1398</Words>
  <Application>Microsoft Office PowerPoint</Application>
  <PresentationFormat>Widescreen</PresentationFormat>
  <Paragraphs>166</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Century Gothic</vt:lpstr>
      <vt:lpstr>Wingdings 3</vt:lpstr>
      <vt:lpstr>Ion</vt:lpstr>
      <vt:lpstr>AI in Healthcare: From Diagnosis to Decision</vt:lpstr>
      <vt:lpstr>INDUSTRY OVERVIEW</vt:lpstr>
      <vt:lpstr>WHAT IS AI?</vt:lpstr>
      <vt:lpstr>KEY PROBLEMS IN HEALTHCARE</vt:lpstr>
      <vt:lpstr>AI SOLUTION 1: IMAGE ANALYSIS</vt:lpstr>
      <vt:lpstr>IMAGE ANALYSIS EXAMPLE</vt:lpstr>
      <vt:lpstr>AI SOLUTION 2: PREDICTIVE ANALYTICS</vt:lpstr>
      <vt:lpstr>PREDICTIVE ANALYTICS EXAMPLE</vt:lpstr>
      <vt:lpstr>AI SOLUTION 3: PROCESS OPTIMIZATION</vt:lpstr>
      <vt:lpstr>PROCESS OPTIMIZATION EXAMPLE</vt:lpstr>
      <vt:lpstr>RESPONSIBLE AI</vt:lpstr>
      <vt:lpstr>RESPONSIBLE AI SOLUTIONS</vt:lpstr>
      <vt:lpstr>FUTURE IMPACT Future of Healthcare AI</vt:lpstr>
      <vt:lpstr>CONCLUSION</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Healthcare: From Diagnosis to Decision</dc:title>
  <dc:creator>bob lynn</dc:creator>
  <cp:lastModifiedBy>bob lynn</cp:lastModifiedBy>
  <cp:revision>8</cp:revision>
  <dcterms:created xsi:type="dcterms:W3CDTF">2026-04-30T16:57:23Z</dcterms:created>
  <dcterms:modified xsi:type="dcterms:W3CDTF">2026-06-19T16:33:27Z</dcterms:modified>
</cp:coreProperties>
</file>